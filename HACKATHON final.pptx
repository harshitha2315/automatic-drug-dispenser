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7" r:id="rId5"/>
    <p:sldId id="258" r:id="rId6"/>
    <p:sldId id="264" r:id="rId7"/>
    <p:sldId id="259" r:id="rId8"/>
    <p:sldId id="260" r:id="rId9"/>
    <p:sldId id="261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DA"/>
    <a:srgbClr val="7BEBD8"/>
    <a:srgbClr val="8335E5"/>
    <a:srgbClr val="6B8DE1"/>
    <a:srgbClr val="6C92E1"/>
    <a:srgbClr val="6313DC"/>
    <a:srgbClr val="030553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52" autoAdjust="0"/>
  </p:normalViewPr>
  <p:slideViewPr>
    <p:cSldViewPr snapToGrid="0" showGuides="1">
      <p:cViewPr>
        <p:scale>
          <a:sx n="58" d="100"/>
          <a:sy n="58" d="100"/>
        </p:scale>
        <p:origin x="116" y="6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0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093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800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867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8F48A-6110-47DA-8521-A1D1FFD22F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814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10/2/2024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Human resources slide 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733192" y="5358396"/>
            <a:ext cx="353619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endParaRPr lang="en-US" sz="1600" i="1" dirty="0">
              <a:solidFill>
                <a:srgbClr val="002060"/>
              </a:solidFill>
              <a:latin typeface="+mj-lt"/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504344-8563-476C-9EF9-4200B272F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85085" y="-3825503"/>
            <a:ext cx="8948964" cy="12105059"/>
            <a:chOff x="4855953" y="-2833465"/>
            <a:chExt cx="8948964" cy="12105059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780000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10200000">
              <a:off x="5952056" y="-2669573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9F8C364-30B2-61AC-E257-CE9528253AFF}"/>
              </a:ext>
            </a:extLst>
          </p:cNvPr>
          <p:cNvSpPr txBox="1"/>
          <p:nvPr/>
        </p:nvSpPr>
        <p:spPr>
          <a:xfrm>
            <a:off x="468923" y="390769"/>
            <a:ext cx="8642420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solidFill>
                  <a:srgbClr val="002060"/>
                </a:solidFill>
                <a:cs typeface="Calibri"/>
              </a:rPr>
              <a:t>Automatic Drug Dispenser </a:t>
            </a:r>
          </a:p>
          <a:p>
            <a:endParaRPr lang="en-US" dirty="0">
              <a:cs typeface="Calibri"/>
            </a:endParaRPr>
          </a:p>
          <a:p>
            <a:r>
              <a:rPr lang="en-US" sz="3200" dirty="0" err="1">
                <a:cs typeface="Calibri"/>
              </a:rPr>
              <a:t>Organisation</a:t>
            </a:r>
            <a:r>
              <a:rPr lang="en-US" sz="3200" dirty="0">
                <a:cs typeface="Calibri"/>
              </a:rPr>
              <a:t> Name : </a:t>
            </a:r>
            <a:r>
              <a:rPr lang="en-US" sz="3200" b="1" dirty="0">
                <a:solidFill>
                  <a:srgbClr val="002060"/>
                </a:solidFill>
                <a:cs typeface="Calibri"/>
              </a:rPr>
              <a:t>AICTE MIC – Student   </a:t>
            </a:r>
          </a:p>
          <a:p>
            <a:r>
              <a:rPr lang="en-US" sz="3200" b="1" dirty="0">
                <a:solidFill>
                  <a:srgbClr val="002060"/>
                </a:solidFill>
                <a:cs typeface="Calibri"/>
              </a:rPr>
              <a:t>                                      Innovation </a:t>
            </a:r>
          </a:p>
          <a:p>
            <a:endParaRPr lang="en-US" sz="3200" dirty="0">
              <a:cs typeface="Calibri"/>
            </a:endParaRPr>
          </a:p>
          <a:p>
            <a:r>
              <a:rPr lang="en-US" sz="3200" dirty="0">
                <a:cs typeface="Calibri"/>
              </a:rPr>
              <a:t>PS ID 		      : </a:t>
            </a:r>
            <a:r>
              <a:rPr lang="en-US" sz="3200" b="1" dirty="0">
                <a:solidFill>
                  <a:srgbClr val="002060"/>
                </a:solidFill>
                <a:cs typeface="Calibri"/>
              </a:rPr>
              <a:t>SIH1479</a:t>
            </a:r>
          </a:p>
          <a:p>
            <a:endParaRPr lang="en-US" sz="3200" dirty="0">
              <a:cs typeface="Calibri"/>
            </a:endParaRPr>
          </a:p>
          <a:p>
            <a:r>
              <a:rPr lang="en-US" sz="3200" dirty="0">
                <a:cs typeface="Calibri"/>
              </a:rPr>
              <a:t>Team Name	      : </a:t>
            </a:r>
            <a:r>
              <a:rPr lang="en-US" sz="3200" b="1" dirty="0" err="1">
                <a:solidFill>
                  <a:srgbClr val="002060"/>
                </a:solidFill>
                <a:cs typeface="Calibri"/>
              </a:rPr>
              <a:t>NovaCode</a:t>
            </a:r>
            <a:r>
              <a:rPr lang="en-US" sz="3200" b="1" dirty="0">
                <a:solidFill>
                  <a:srgbClr val="002060"/>
                </a:solidFill>
                <a:cs typeface="Calibri"/>
              </a:rPr>
              <a:t> </a:t>
            </a:r>
          </a:p>
          <a:p>
            <a:endParaRPr lang="en-US" sz="3200" dirty="0">
              <a:cs typeface="Calibri"/>
            </a:endParaRPr>
          </a:p>
          <a:p>
            <a:r>
              <a:rPr lang="en-US" sz="3200" dirty="0">
                <a:cs typeface="Calibri"/>
              </a:rPr>
              <a:t>Institute Name	     </a:t>
            </a:r>
            <a:r>
              <a:rPr lang="en-US" sz="2400" dirty="0">
                <a:cs typeface="Calibri"/>
              </a:rPr>
              <a:t> </a:t>
            </a:r>
          </a:p>
          <a:p>
            <a:r>
              <a:rPr lang="en-US" sz="3200" b="1" dirty="0">
                <a:solidFill>
                  <a:srgbClr val="1E3ADA"/>
                </a:solidFill>
                <a:cs typeface="Calibri"/>
              </a:rPr>
              <a:t>School of Engineering,</a:t>
            </a:r>
          </a:p>
          <a:p>
            <a:r>
              <a:rPr lang="en-US" sz="3200" b="1" dirty="0" err="1">
                <a:solidFill>
                  <a:srgbClr val="1E3ADA"/>
                </a:solidFill>
                <a:cs typeface="Calibri"/>
              </a:rPr>
              <a:t>Avinashilingam</a:t>
            </a:r>
            <a:r>
              <a:rPr lang="en-US" sz="3200" b="1" dirty="0">
                <a:solidFill>
                  <a:srgbClr val="1E3ADA"/>
                </a:solidFill>
                <a:cs typeface="Calibri"/>
              </a:rPr>
              <a:t> Institute for Home Science and Higher Education for Women </a:t>
            </a:r>
          </a:p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1183821" y="738390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8D4B56-7D6C-4345-912F-B3BA9A01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0229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457331C-2A24-4352-9B4C-1C1B326F4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9681" y="1881815"/>
            <a:ext cx="4230335" cy="3514373"/>
            <a:chOff x="489681" y="1692049"/>
            <a:chExt cx="4230335" cy="361246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111D787-E830-4638-97B3-205F0A0ABC3F}"/>
                </a:ext>
              </a:extLst>
            </p:cNvPr>
            <p:cNvGrpSpPr/>
            <p:nvPr/>
          </p:nvGrpSpPr>
          <p:grpSpPr>
            <a:xfrm>
              <a:off x="518433" y="1692049"/>
              <a:ext cx="4201583" cy="430887"/>
              <a:chOff x="518433" y="1851126"/>
              <a:chExt cx="4201583" cy="430887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BFCD1AA-E1CA-41D6-8605-56AFEBE4EEE3}"/>
                  </a:ext>
                </a:extLst>
              </p:cNvPr>
              <p:cNvSpPr/>
              <p:nvPr/>
            </p:nvSpPr>
            <p:spPr>
              <a:xfrm>
                <a:off x="518433" y="1981199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101D99-B002-4698-9C7E-C942B9AA2D39}"/>
                  </a:ext>
                </a:extLst>
              </p:cNvPr>
              <p:cNvSpPr/>
              <p:nvPr/>
            </p:nvSpPr>
            <p:spPr>
              <a:xfrm>
                <a:off x="1183821" y="1851126"/>
                <a:ext cx="3536195" cy="430887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2800" dirty="0">
                    <a:latin typeface="Cambria" panose="02040503050406030204" pitchFamily="18" charset="0"/>
                    <a:ea typeface="Cambria" panose="02040503050406030204" pitchFamily="18" charset="0"/>
                    <a:cs typeface="Calibri"/>
                  </a:rPr>
                  <a:t>Overview</a:t>
                </a:r>
                <a:endParaRPr lang="en-US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19246F-8F2D-4FAD-8927-AA34DDAA5DFA}"/>
                </a:ext>
              </a:extLst>
            </p:cNvPr>
            <p:cNvGrpSpPr/>
            <p:nvPr/>
          </p:nvGrpSpPr>
          <p:grpSpPr>
            <a:xfrm>
              <a:off x="489681" y="2505048"/>
              <a:ext cx="4196822" cy="430887"/>
              <a:chOff x="489681" y="2447186"/>
              <a:chExt cx="4196822" cy="430887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4FF47BA-9557-4442-8E2A-74A4F4AAD237}"/>
                  </a:ext>
                </a:extLst>
              </p:cNvPr>
              <p:cNvSpPr/>
              <p:nvPr/>
            </p:nvSpPr>
            <p:spPr>
              <a:xfrm>
                <a:off x="489681" y="2588313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0C2221-E8A7-47E0-B2B2-5A6A32F96791}"/>
                  </a:ext>
                </a:extLst>
              </p:cNvPr>
              <p:cNvSpPr/>
              <p:nvPr/>
            </p:nvSpPr>
            <p:spPr>
              <a:xfrm>
                <a:off x="1150308" y="2447186"/>
                <a:ext cx="3536195" cy="430887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2800" i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"/>
                  </a:rPr>
                  <a:t>Statistics</a:t>
                </a:r>
                <a:r>
                  <a:rPr lang="en-US" sz="1600" i="1" dirty="0">
                    <a:solidFill>
                      <a:srgbClr val="002060"/>
                    </a:solidFill>
                    <a:latin typeface="+mj-lt"/>
                    <a:cs typeface="Segoe UI"/>
                  </a:rPr>
                  <a:t> 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D065A01-39E4-4CC9-9075-3910C66205F5}"/>
                </a:ext>
              </a:extLst>
            </p:cNvPr>
            <p:cNvGrpSpPr/>
            <p:nvPr/>
          </p:nvGrpSpPr>
          <p:grpSpPr>
            <a:xfrm>
              <a:off x="518433" y="3282419"/>
              <a:ext cx="4140857" cy="1204411"/>
              <a:chOff x="518433" y="3021543"/>
              <a:chExt cx="4140857" cy="1204411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B458D5C-BDF7-4A75-A4E8-B99128DCD84A}"/>
                  </a:ext>
                </a:extLst>
              </p:cNvPr>
              <p:cNvSpPr/>
              <p:nvPr/>
            </p:nvSpPr>
            <p:spPr>
              <a:xfrm>
                <a:off x="518433" y="3993658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A17B45E-57F0-4725-89C0-3CD74A5097A3}"/>
                  </a:ext>
                </a:extLst>
              </p:cNvPr>
              <p:cNvSpPr/>
              <p:nvPr/>
            </p:nvSpPr>
            <p:spPr>
              <a:xfrm>
                <a:off x="1123095" y="3021543"/>
                <a:ext cx="3536195" cy="430887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2800" i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"/>
                  </a:rPr>
                  <a:t>Components</a:t>
                </a:r>
                <a:endParaRPr lang="en-US" sz="2800" i="1" dirty="0">
                  <a:solidFill>
                    <a:srgbClr val="00206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9D452F-25F9-4A2F-84BD-9A44714884C6}"/>
                </a:ext>
              </a:extLst>
            </p:cNvPr>
            <p:cNvGrpSpPr/>
            <p:nvPr/>
          </p:nvGrpSpPr>
          <p:grpSpPr>
            <a:xfrm>
              <a:off x="518433" y="4139411"/>
              <a:ext cx="4185433" cy="1165107"/>
              <a:chOff x="518433" y="3675522"/>
              <a:chExt cx="4185433" cy="116510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64E3D015-D1E6-40C0-B820-5D2B0144652D}"/>
                  </a:ext>
                </a:extLst>
              </p:cNvPr>
              <p:cNvSpPr/>
              <p:nvPr/>
            </p:nvSpPr>
            <p:spPr>
              <a:xfrm>
                <a:off x="518433" y="4608333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87696D-0387-46E9-A420-AD2392161D95}"/>
                  </a:ext>
                </a:extLst>
              </p:cNvPr>
              <p:cNvSpPr/>
              <p:nvPr/>
            </p:nvSpPr>
            <p:spPr>
              <a:xfrm>
                <a:off x="1167671" y="3675522"/>
                <a:ext cx="3536195" cy="430887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2800" i="1" dirty="0">
                    <a:solidFill>
                      <a:srgbClr val="00206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Segoe UI"/>
                  </a:rPr>
                  <a:t>Flowchart</a:t>
                </a:r>
                <a:endParaRPr lang="en-US" sz="2800" i="1" dirty="0">
                  <a:solidFill>
                    <a:srgbClr val="00206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2" name="Group 61" descr="This image is a woman's hand writing on a piece of paper. 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4482071" y="-508000"/>
            <a:ext cx="8739666" cy="8346238"/>
            <a:chOff x="4597682" y="-439156"/>
            <a:chExt cx="7594320" cy="7252450"/>
          </a:xfrm>
        </p:grpSpPr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52" name="Freeform 29">
                <a:extLst>
                  <a:ext uri="{FF2B5EF4-FFF2-40B4-BE49-F238E27FC236}">
                    <a16:creationId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3" name="Freeform 30">
                <a:extLst>
                  <a:ext uri="{FF2B5EF4-FFF2-40B4-BE49-F238E27FC236}">
                    <a16:creationId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itle 14" hidden="1">
            <a:extLst>
              <a:ext uri="{FF2B5EF4-FFF2-40B4-BE49-F238E27FC236}">
                <a16:creationId xmlns:a16="http://schemas.microsoft.com/office/drawing/2014/main" id="{1B710331-53CB-4E4F-A9D3-D1E190E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E2602-31C0-7143-9416-3DBAFC2B1022}"/>
              </a:ext>
            </a:extLst>
          </p:cNvPr>
          <p:cNvSpPr/>
          <p:nvPr/>
        </p:nvSpPr>
        <p:spPr>
          <a:xfrm>
            <a:off x="1141295" y="5023231"/>
            <a:ext cx="3536195" cy="430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28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2DC7CE-D4F9-D3FF-7C94-6EFEE0D24526}"/>
              </a:ext>
            </a:extLst>
          </p:cNvPr>
          <p:cNvSpPr/>
          <p:nvPr/>
        </p:nvSpPr>
        <p:spPr>
          <a:xfrm>
            <a:off x="525050" y="3605516"/>
            <a:ext cx="377701" cy="22598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97" hidden="1">
            <a:extLst>
              <a:ext uri="{FF2B5EF4-FFF2-40B4-BE49-F238E27FC236}">
                <a16:creationId xmlns:a16="http://schemas.microsoft.com/office/drawing/2014/main" id="{D69146DD-53CC-4FD6-9456-3F49560F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A5AF66-F428-4EBE-A3A8-9F827101F023}"/>
              </a:ext>
            </a:extLst>
          </p:cNvPr>
          <p:cNvSpPr txBox="1"/>
          <p:nvPr/>
        </p:nvSpPr>
        <p:spPr>
          <a:xfrm>
            <a:off x="1502229" y="132039"/>
            <a:ext cx="8001000" cy="42542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>
              <a:lnSpc>
                <a:spcPts val="4000"/>
              </a:lnSpc>
              <a:defRPr sz="3600" b="1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200" dirty="0">
                <a:latin typeface="Segoe UI"/>
                <a:cs typeface="Segoe UI"/>
              </a:rPr>
              <a:t>Overview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94E089-025A-4C69-B940-7F951870B5E4}"/>
              </a:ext>
            </a:extLst>
          </p:cNvPr>
          <p:cNvSpPr txBox="1"/>
          <p:nvPr/>
        </p:nvSpPr>
        <p:spPr>
          <a:xfrm>
            <a:off x="383984" y="762978"/>
            <a:ext cx="10665016" cy="569659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600" i="1">
                <a:solidFill>
                  <a:srgbClr val="002060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457200" indent="-457200" algn="just">
              <a:buFont typeface="Courier New"/>
              <a:buChar char="o"/>
            </a:pPr>
            <a:r>
              <a:rPr lang="en-US" sz="2800" i="0" dirty="0"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Today the continuous healthcare monitoring of elderly people needs a great amount of money to spend towards the caretakers to increase the life span of them.</a:t>
            </a:r>
          </a:p>
          <a:p>
            <a:pPr marL="457200" indent="-457200" algn="just">
              <a:buFont typeface="Courier New"/>
              <a:buChar char="o"/>
            </a:pPr>
            <a:r>
              <a:rPr lang="en-US" sz="2800" i="0" dirty="0"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To provide care and increase the lifespan of elderly people an Automatic Drug Dispenser is needly one.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  <a:p>
            <a:pPr marL="457200" indent="-457200" algn="just">
              <a:buFont typeface="Courier New"/>
              <a:buChar char="o"/>
            </a:pPr>
            <a:r>
              <a:rPr lang="en-US" sz="2800" i="0" dirty="0"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Elderly people can independently take medicines at prescribed time and reduces the mishandling of drugs such as skipping doses, ingesting the improper dosages, or taking medications at the wrong time . 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  <a:p>
            <a:pPr marL="457200" indent="-457200" algn="just">
              <a:buFont typeface="Courier New"/>
              <a:buChar char="o"/>
            </a:pPr>
            <a:r>
              <a:rPr lang="en-US" sz="2800" i="0" dirty="0"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Dispensing pills using Raspberry pi, Biometrics, Sensors , Dispenser etc.,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  <a:p>
            <a:pPr marL="457200" indent="-457200" algn="just">
              <a:buFont typeface="Courier New"/>
              <a:buChar char="o"/>
            </a:pPr>
            <a:r>
              <a:rPr lang="en-US" sz="2800" i="0" dirty="0"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Send the notifications to caregivers or next of kin based on the regularity of medicine consumption </a:t>
            </a:r>
            <a:r>
              <a:rPr lang="en-US" sz="2800" i="0" dirty="0">
                <a:ea typeface="+mj-lt"/>
                <a:cs typeface="+mj-lt"/>
              </a:rPr>
              <a:t>.</a:t>
            </a:r>
            <a:endParaRPr lang="en-US" sz="2800" dirty="0">
              <a:cs typeface="Segoe UI"/>
            </a:endParaRPr>
          </a:p>
        </p:txBody>
      </p:sp>
      <p:grpSp>
        <p:nvGrpSpPr>
          <p:cNvPr id="94" name="Group 93" descr="This image is of an abstract shape. ">
            <a:extLst>
              <a:ext uri="{FF2B5EF4-FFF2-40B4-BE49-F238E27FC236}">
                <a16:creationId xmlns:a16="http://schemas.microsoft.com/office/drawing/2014/main" id="{06C5D049-85D7-4673-9E2C-A2DF6A4D5048}"/>
              </a:ext>
            </a:extLst>
          </p:cNvPr>
          <p:cNvGrpSpPr/>
          <p:nvPr/>
        </p:nvGrpSpPr>
        <p:grpSpPr>
          <a:xfrm rot="15309759">
            <a:off x="9026813" y="4622835"/>
            <a:ext cx="4736736" cy="6407275"/>
            <a:chOff x="4855953" y="-2833465"/>
            <a:chExt cx="8948964" cy="12105059"/>
          </a:xfrm>
        </p:grpSpPr>
        <p:sp>
          <p:nvSpPr>
            <p:cNvPr id="95" name="Freeform 10">
              <a:extLst>
                <a:ext uri="{FF2B5EF4-FFF2-40B4-BE49-F238E27FC236}">
                  <a16:creationId xmlns:a16="http://schemas.microsoft.com/office/drawing/2014/main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11">
              <a:extLst>
                <a:ext uri="{FF2B5EF4-FFF2-40B4-BE49-F238E27FC236}">
                  <a16:creationId xmlns:a16="http://schemas.microsoft.com/office/drawing/2014/main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12">
              <a:extLst>
                <a:ext uri="{FF2B5EF4-FFF2-40B4-BE49-F238E27FC236}">
                  <a16:creationId xmlns:a16="http://schemas.microsoft.com/office/drawing/2014/main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220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 hidden="1">
            <a:extLst>
              <a:ext uri="{FF2B5EF4-FFF2-40B4-BE49-F238E27FC236}">
                <a16:creationId xmlns:a16="http://schemas.microsoft.com/office/drawing/2014/main" id="{3D46526D-118F-4F6F-BAE0-066F422E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3</a:t>
            </a: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470070FC-19D0-4354-9BC9-608A5DC4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2895600"/>
              <a:gd name="connsiteX1" fmla="*/ 12192000 w 12192000"/>
              <a:gd name="connsiteY1" fmla="*/ 0 h 2895600"/>
              <a:gd name="connsiteX2" fmla="*/ 12192000 w 12192000"/>
              <a:gd name="connsiteY2" fmla="*/ 2895600 h 2895600"/>
              <a:gd name="connsiteX3" fmla="*/ 0 w 12192000"/>
              <a:gd name="connsiteY3" fmla="*/ 289560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895600">
                <a:moveTo>
                  <a:pt x="0" y="0"/>
                </a:moveTo>
                <a:lnTo>
                  <a:pt x="12192000" y="0"/>
                </a:lnTo>
                <a:lnTo>
                  <a:pt x="12192000" y="2895600"/>
                </a:lnTo>
                <a:lnTo>
                  <a:pt x="0" y="2895600"/>
                </a:lnTo>
                <a:close/>
              </a:path>
            </a:pathLst>
          </a:custGeom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C9C2C56A-C4D4-4578-84E9-27FD62603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431200-8E45-4A0C-B12B-CFA1B2C53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21796" y="5502466"/>
            <a:ext cx="443592" cy="23229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3DD8E-0492-4A48-B06C-F87FA5CFE3C0}"/>
              </a:ext>
            </a:extLst>
          </p:cNvPr>
          <p:cNvSpPr txBox="1"/>
          <p:nvPr/>
        </p:nvSpPr>
        <p:spPr>
          <a:xfrm>
            <a:off x="129268" y="919319"/>
            <a:ext cx="3729779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latin typeface="Segoe UI"/>
                <a:cs typeface="Segoe UI"/>
              </a:rPr>
              <a:t>Statistics</a:t>
            </a:r>
            <a:endParaRPr lang="en-US" sz="5400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241C7FC4-FEFA-4A96-9749-9068C686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14833" y="2"/>
            <a:ext cx="3961053" cy="6857998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7CEFD8"/>
              </a:gs>
              <a:gs pos="71000">
                <a:srgbClr val="6672E4"/>
              </a:gs>
              <a:gs pos="100000">
                <a:srgbClr val="882BE5"/>
              </a:gs>
            </a:gsLst>
            <a:lin ang="5400000" scaled="1"/>
          </a:gra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04BA3-593E-4519-9139-4E1D86366677}"/>
              </a:ext>
            </a:extLst>
          </p:cNvPr>
          <p:cNvSpPr txBox="1"/>
          <p:nvPr/>
        </p:nvSpPr>
        <p:spPr>
          <a:xfrm>
            <a:off x="4453458" y="1227906"/>
            <a:ext cx="2427971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b="1" dirty="0">
                <a:latin typeface="Segoe UI"/>
                <a:cs typeface="Segoe UI"/>
              </a:rPr>
              <a:t>EMPLOYEES ARE MOTIVATED BY: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BB415A0-39A4-4597-926D-819C3331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47255" y="2194280"/>
            <a:ext cx="3089711" cy="3754492"/>
            <a:chOff x="4711392" y="2198247"/>
            <a:chExt cx="3089710" cy="375449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E4AB604-CF34-4776-BFF1-9AD3477F593C}"/>
                </a:ext>
              </a:extLst>
            </p:cNvPr>
            <p:cNvGrpSpPr/>
            <p:nvPr/>
          </p:nvGrpSpPr>
          <p:grpSpPr>
            <a:xfrm>
              <a:off x="4719329" y="2198247"/>
              <a:ext cx="3081773" cy="534278"/>
              <a:chOff x="5063285" y="2201597"/>
              <a:chExt cx="3081773" cy="53427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67E4A54-8A0F-43A0-AA7D-F508F05BB2EF}"/>
                  </a:ext>
                </a:extLst>
              </p:cNvPr>
              <p:cNvSpPr/>
              <p:nvPr/>
            </p:nvSpPr>
            <p:spPr>
              <a:xfrm>
                <a:off x="5656764" y="2243432"/>
                <a:ext cx="2488294" cy="492443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i="1" dirty="0">
                    <a:latin typeface="+mj-lt"/>
                    <a:cs typeface="Segoe UI"/>
                  </a:rPr>
                  <a:t>Overall percentage of disability  </a:t>
                </a: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B97B3C9-EBC6-4C92-9F0A-E28F4EF7A5EA}"/>
                  </a:ext>
                </a:extLst>
              </p:cNvPr>
              <p:cNvGrpSpPr/>
              <p:nvPr/>
            </p:nvGrpSpPr>
            <p:grpSpPr>
              <a:xfrm>
                <a:off x="5063285" y="2201597"/>
                <a:ext cx="330200" cy="346075"/>
                <a:chOff x="2686050" y="2895601"/>
                <a:chExt cx="330200" cy="346075"/>
              </a:xfrm>
            </p:grpSpPr>
            <p:sp>
              <p:nvSpPr>
                <p:cNvPr id="52" name="Oval 309">
                  <a:extLst>
                    <a:ext uri="{FF2B5EF4-FFF2-40B4-BE49-F238E27FC236}">
                      <a16:creationId xmlns:a16="http://schemas.microsoft.com/office/drawing/2014/main" id="{00D7C237-71FC-445A-9F26-101C7B72A6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9875" y="2895601"/>
                  <a:ext cx="82550" cy="82550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3" name="Freeform 310">
                  <a:extLst>
                    <a:ext uri="{FF2B5EF4-FFF2-40B4-BE49-F238E27FC236}">
                      <a16:creationId xmlns:a16="http://schemas.microsoft.com/office/drawing/2014/main" id="{66875E49-12B2-4689-93D2-F6C3DFA574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888" y="2978151"/>
                  <a:ext cx="134938" cy="66675"/>
                </a:xfrm>
                <a:custGeom>
                  <a:avLst/>
                  <a:gdLst>
                    <a:gd name="T0" fmla="*/ 36 w 36"/>
                    <a:gd name="T1" fmla="*/ 18 h 18"/>
                    <a:gd name="T2" fmla="*/ 0 w 36"/>
                    <a:gd name="T3" fmla="*/ 18 h 18"/>
                    <a:gd name="T4" fmla="*/ 18 w 36"/>
                    <a:gd name="T5" fmla="*/ 0 h 18"/>
                    <a:gd name="T6" fmla="*/ 36 w 36"/>
                    <a:gd name="T7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8">
                      <a:moveTo>
                        <a:pt x="36" y="18"/>
                      </a:move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0" y="8"/>
                        <a:pt x="8" y="0"/>
                        <a:pt x="18" y="0"/>
                      </a:cubicBezTo>
                      <a:cubicBezTo>
                        <a:pt x="28" y="0"/>
                        <a:pt x="36" y="8"/>
                        <a:pt x="36" y="18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Oval 311">
                  <a:extLst>
                    <a:ext uri="{FF2B5EF4-FFF2-40B4-BE49-F238E27FC236}">
                      <a16:creationId xmlns:a16="http://schemas.microsoft.com/office/drawing/2014/main" id="{79E812C8-6A14-42FA-B983-56B6F73034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8275" y="3128963"/>
                  <a:ext cx="60325" cy="587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312">
                  <a:extLst>
                    <a:ext uri="{FF2B5EF4-FFF2-40B4-BE49-F238E27FC236}">
                      <a16:creationId xmlns:a16="http://schemas.microsoft.com/office/drawing/2014/main" id="{6EE140AE-95E2-42D6-8343-EED0E01B8E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6050" y="3187701"/>
                  <a:ext cx="104775" cy="53975"/>
                </a:xfrm>
                <a:custGeom>
                  <a:avLst/>
                  <a:gdLst>
                    <a:gd name="T0" fmla="*/ 28 w 28"/>
                    <a:gd name="T1" fmla="*/ 14 h 14"/>
                    <a:gd name="T2" fmla="*/ 0 w 28"/>
                    <a:gd name="T3" fmla="*/ 14 h 14"/>
                    <a:gd name="T4" fmla="*/ 14 w 28"/>
                    <a:gd name="T5" fmla="*/ 0 h 14"/>
                    <a:gd name="T6" fmla="*/ 28 w 28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14">
                      <a:moveTo>
                        <a:pt x="28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Oval 313">
                  <a:extLst>
                    <a:ext uri="{FF2B5EF4-FFF2-40B4-BE49-F238E27FC236}">
                      <a16:creationId xmlns:a16="http://schemas.microsoft.com/office/drawing/2014/main" id="{A91A4C56-03CB-4D67-8CD8-FC29B3A2B6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3700" y="3128963"/>
                  <a:ext cx="60325" cy="587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7" name="Freeform 314">
                  <a:extLst>
                    <a:ext uri="{FF2B5EF4-FFF2-40B4-BE49-F238E27FC236}">
                      <a16:creationId xmlns:a16="http://schemas.microsoft.com/office/drawing/2014/main" id="{4BF4DB61-E50C-4659-B315-21BF743FF7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1475" y="3187701"/>
                  <a:ext cx="104775" cy="53975"/>
                </a:xfrm>
                <a:custGeom>
                  <a:avLst/>
                  <a:gdLst>
                    <a:gd name="T0" fmla="*/ 28 w 28"/>
                    <a:gd name="T1" fmla="*/ 14 h 14"/>
                    <a:gd name="T2" fmla="*/ 0 w 28"/>
                    <a:gd name="T3" fmla="*/ 14 h 14"/>
                    <a:gd name="T4" fmla="*/ 14 w 28"/>
                    <a:gd name="T5" fmla="*/ 0 h 14"/>
                    <a:gd name="T6" fmla="*/ 28 w 28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14">
                      <a:moveTo>
                        <a:pt x="28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8" name="Oval 315">
                  <a:extLst>
                    <a:ext uri="{FF2B5EF4-FFF2-40B4-BE49-F238E27FC236}">
                      <a16:creationId xmlns:a16="http://schemas.microsoft.com/office/drawing/2014/main" id="{263D783B-3857-4E55-A551-6655D8DDA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3700" y="3128963"/>
                  <a:ext cx="60325" cy="587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9" name="Freeform 316">
                  <a:extLst>
                    <a:ext uri="{FF2B5EF4-FFF2-40B4-BE49-F238E27FC236}">
                      <a16:creationId xmlns:a16="http://schemas.microsoft.com/office/drawing/2014/main" id="{E46D5622-D664-481B-8902-70C961FAFD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1475" y="3187701"/>
                  <a:ext cx="104775" cy="53975"/>
                </a:xfrm>
                <a:custGeom>
                  <a:avLst/>
                  <a:gdLst>
                    <a:gd name="T0" fmla="*/ 28 w 28"/>
                    <a:gd name="T1" fmla="*/ 14 h 14"/>
                    <a:gd name="T2" fmla="*/ 0 w 28"/>
                    <a:gd name="T3" fmla="*/ 14 h 14"/>
                    <a:gd name="T4" fmla="*/ 14 w 28"/>
                    <a:gd name="T5" fmla="*/ 0 h 14"/>
                    <a:gd name="T6" fmla="*/ 28 w 28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14">
                      <a:moveTo>
                        <a:pt x="28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0" name="Oval 317">
                  <a:extLst>
                    <a:ext uri="{FF2B5EF4-FFF2-40B4-BE49-F238E27FC236}">
                      <a16:creationId xmlns:a16="http://schemas.microsoft.com/office/drawing/2014/main" id="{5BDC2AA3-8653-47C6-9CF7-2579486BFF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0988" y="3128963"/>
                  <a:ext cx="60325" cy="587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1" name="Freeform 318">
                  <a:extLst>
                    <a:ext uri="{FF2B5EF4-FFF2-40B4-BE49-F238E27FC236}">
                      <a16:creationId xmlns:a16="http://schemas.microsoft.com/office/drawing/2014/main" id="{3A66D3FE-E235-4203-A19F-BC38BF7A6C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8763" y="3187701"/>
                  <a:ext cx="104775" cy="53975"/>
                </a:xfrm>
                <a:custGeom>
                  <a:avLst/>
                  <a:gdLst>
                    <a:gd name="T0" fmla="*/ 28 w 28"/>
                    <a:gd name="T1" fmla="*/ 14 h 14"/>
                    <a:gd name="T2" fmla="*/ 0 w 28"/>
                    <a:gd name="T3" fmla="*/ 14 h 14"/>
                    <a:gd name="T4" fmla="*/ 14 w 28"/>
                    <a:gd name="T5" fmla="*/ 0 h 14"/>
                    <a:gd name="T6" fmla="*/ 28 w 28"/>
                    <a:gd name="T7" fmla="*/ 1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8" h="14">
                      <a:moveTo>
                        <a:pt x="28" y="14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2" name="Freeform 319">
                  <a:extLst>
                    <a:ext uri="{FF2B5EF4-FFF2-40B4-BE49-F238E27FC236}">
                      <a16:creationId xmlns:a16="http://schemas.microsoft.com/office/drawing/2014/main" id="{6C51C0E5-2DAE-4DE1-BAE4-8E0D932D99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38438" y="3074988"/>
                  <a:ext cx="225425" cy="15875"/>
                </a:xfrm>
                <a:custGeom>
                  <a:avLst/>
                  <a:gdLst>
                    <a:gd name="T0" fmla="*/ 0 w 142"/>
                    <a:gd name="T1" fmla="*/ 10 h 10"/>
                    <a:gd name="T2" fmla="*/ 0 w 142"/>
                    <a:gd name="T3" fmla="*/ 0 h 10"/>
                    <a:gd name="T4" fmla="*/ 142 w 142"/>
                    <a:gd name="T5" fmla="*/ 0 h 10"/>
                    <a:gd name="T6" fmla="*/ 142 w 142"/>
                    <a:gd name="T7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10">
                      <a:moveTo>
                        <a:pt x="0" y="10"/>
                      </a:moveTo>
                      <a:lnTo>
                        <a:pt x="0" y="0"/>
                      </a:lnTo>
                      <a:lnTo>
                        <a:pt x="142" y="0"/>
                      </a:lnTo>
                      <a:lnTo>
                        <a:pt x="142" y="10"/>
                      </a:lnTo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3" name="Line 320">
                  <a:extLst>
                    <a:ext uri="{FF2B5EF4-FFF2-40B4-BE49-F238E27FC236}">
                      <a16:creationId xmlns:a16="http://schemas.microsoft.com/office/drawing/2014/main" id="{FED6DFE8-0963-48D1-9BAA-53772F0EA8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1150" y="3044826"/>
                  <a:ext cx="0" cy="46038"/>
                </a:xfrm>
                <a:prstGeom prst="lin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F34A4EB-3F1D-46DA-8918-F39703249E85}"/>
                </a:ext>
              </a:extLst>
            </p:cNvPr>
            <p:cNvGrpSpPr/>
            <p:nvPr/>
          </p:nvGrpSpPr>
          <p:grpSpPr>
            <a:xfrm>
              <a:off x="4711392" y="3113161"/>
              <a:ext cx="3032201" cy="461881"/>
              <a:chOff x="5055348" y="2856123"/>
              <a:chExt cx="3032201" cy="461881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136D759-25F2-4CF2-9BE6-769681C37E48}"/>
                  </a:ext>
                </a:extLst>
              </p:cNvPr>
              <p:cNvGrpSpPr/>
              <p:nvPr/>
            </p:nvGrpSpPr>
            <p:grpSpPr>
              <a:xfrm>
                <a:off x="5055348" y="2929307"/>
                <a:ext cx="346075" cy="346075"/>
                <a:chOff x="3398838" y="2895601"/>
                <a:chExt cx="346075" cy="346075"/>
              </a:xfrm>
            </p:grpSpPr>
            <p:sp>
              <p:nvSpPr>
                <p:cNvPr id="16" name="Freeform 49">
                  <a:extLst>
                    <a:ext uri="{FF2B5EF4-FFF2-40B4-BE49-F238E27FC236}">
                      <a16:creationId xmlns:a16="http://schemas.microsoft.com/office/drawing/2014/main" id="{56CCB68B-57D2-49CC-B61F-363F0FF3AD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98838" y="2986089"/>
                  <a:ext cx="82550" cy="58738"/>
                </a:xfrm>
                <a:custGeom>
                  <a:avLst/>
                  <a:gdLst>
                    <a:gd name="T0" fmla="*/ 14 w 22"/>
                    <a:gd name="T1" fmla="*/ 0 h 16"/>
                    <a:gd name="T2" fmla="*/ 14 w 22"/>
                    <a:gd name="T3" fmla="*/ 6 h 16"/>
                    <a:gd name="T4" fmla="*/ 4 w 22"/>
                    <a:gd name="T5" fmla="*/ 9 h 16"/>
                    <a:gd name="T6" fmla="*/ 0 w 22"/>
                    <a:gd name="T7" fmla="*/ 14 h 16"/>
                    <a:gd name="T8" fmla="*/ 0 w 22"/>
                    <a:gd name="T9" fmla="*/ 16 h 16"/>
                    <a:gd name="T10" fmla="*/ 22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14" y="0"/>
                      </a:move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2" y="10"/>
                        <a:pt x="0" y="12"/>
                        <a:pt x="0" y="14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" name="Freeform 50">
                  <a:extLst>
                    <a:ext uri="{FF2B5EF4-FFF2-40B4-BE49-F238E27FC236}">
                      <a16:creationId xmlns:a16="http://schemas.microsoft.com/office/drawing/2014/main" id="{67F96EFD-DA55-4AD5-BA45-4313C3E981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7101" y="2986089"/>
                  <a:ext cx="82550" cy="58738"/>
                </a:xfrm>
                <a:custGeom>
                  <a:avLst/>
                  <a:gdLst>
                    <a:gd name="T0" fmla="*/ 8 w 22"/>
                    <a:gd name="T1" fmla="*/ 0 h 16"/>
                    <a:gd name="T2" fmla="*/ 8 w 22"/>
                    <a:gd name="T3" fmla="*/ 6 h 16"/>
                    <a:gd name="T4" fmla="*/ 18 w 22"/>
                    <a:gd name="T5" fmla="*/ 9 h 16"/>
                    <a:gd name="T6" fmla="*/ 22 w 22"/>
                    <a:gd name="T7" fmla="*/ 14 h 16"/>
                    <a:gd name="T8" fmla="*/ 22 w 22"/>
                    <a:gd name="T9" fmla="*/ 16 h 16"/>
                    <a:gd name="T10" fmla="*/ 0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8" y="0"/>
                      </a:move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20" y="10"/>
                        <a:pt x="22" y="12"/>
                        <a:pt x="22" y="14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0" y="16"/>
                        <a:pt x="0" y="16"/>
                        <a:pt x="0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" name="Oval 51">
                  <a:extLst>
                    <a:ext uri="{FF2B5EF4-FFF2-40B4-BE49-F238E27FC236}">
                      <a16:creationId xmlns:a16="http://schemas.microsoft.com/office/drawing/2014/main" id="{F372C151-C001-4280-B771-9A239086CC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29001" y="2895601"/>
                  <a:ext cx="90488" cy="96838"/>
                </a:xfrm>
                <a:prstGeom prst="ellips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" name="Freeform 52">
                  <a:extLst>
                    <a:ext uri="{FF2B5EF4-FFF2-40B4-BE49-F238E27FC236}">
                      <a16:creationId xmlns:a16="http://schemas.microsoft.com/office/drawing/2014/main" id="{D3FA7893-F8A0-4F72-ACCF-CF4CE6E4B9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29001" y="2928939"/>
                  <a:ext cx="90488" cy="14288"/>
                </a:xfrm>
                <a:custGeom>
                  <a:avLst/>
                  <a:gdLst>
                    <a:gd name="T0" fmla="*/ 24 w 24"/>
                    <a:gd name="T1" fmla="*/ 2 h 4"/>
                    <a:gd name="T2" fmla="*/ 14 w 24"/>
                    <a:gd name="T3" fmla="*/ 0 h 4"/>
                    <a:gd name="T4" fmla="*/ 0 w 24"/>
                    <a:gd name="T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" h="4">
                      <a:moveTo>
                        <a:pt x="24" y="2"/>
                      </a:moveTo>
                      <a:cubicBezTo>
                        <a:pt x="22" y="4"/>
                        <a:pt x="16" y="4"/>
                        <a:pt x="14" y="0"/>
                      </a:cubicBezTo>
                      <a:cubicBezTo>
                        <a:pt x="10" y="4"/>
                        <a:pt x="3" y="4"/>
                        <a:pt x="0" y="1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" name="Freeform 53">
                  <a:extLst>
                    <a:ext uri="{FF2B5EF4-FFF2-40B4-BE49-F238E27FC236}">
                      <a16:creationId xmlns:a16="http://schemas.microsoft.com/office/drawing/2014/main" id="{C017CF38-81FD-491D-9BA4-35D01D4D42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4101" y="2986089"/>
                  <a:ext cx="82550" cy="58738"/>
                </a:xfrm>
                <a:custGeom>
                  <a:avLst/>
                  <a:gdLst>
                    <a:gd name="T0" fmla="*/ 14 w 22"/>
                    <a:gd name="T1" fmla="*/ 0 h 16"/>
                    <a:gd name="T2" fmla="*/ 14 w 22"/>
                    <a:gd name="T3" fmla="*/ 6 h 16"/>
                    <a:gd name="T4" fmla="*/ 4 w 22"/>
                    <a:gd name="T5" fmla="*/ 9 h 16"/>
                    <a:gd name="T6" fmla="*/ 0 w 22"/>
                    <a:gd name="T7" fmla="*/ 14 h 16"/>
                    <a:gd name="T8" fmla="*/ 0 w 22"/>
                    <a:gd name="T9" fmla="*/ 16 h 16"/>
                    <a:gd name="T10" fmla="*/ 22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14" y="0"/>
                      </a:move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2" y="10"/>
                        <a:pt x="0" y="12"/>
                        <a:pt x="0" y="14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1" name="Freeform 54">
                  <a:extLst>
                    <a:ext uri="{FF2B5EF4-FFF2-40B4-BE49-F238E27FC236}">
                      <a16:creationId xmlns:a16="http://schemas.microsoft.com/office/drawing/2014/main" id="{99433936-BA1A-40A3-959B-047AFFF78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2363" y="2986089"/>
                  <a:ext cx="82550" cy="58738"/>
                </a:xfrm>
                <a:custGeom>
                  <a:avLst/>
                  <a:gdLst>
                    <a:gd name="T0" fmla="*/ 8 w 22"/>
                    <a:gd name="T1" fmla="*/ 0 h 16"/>
                    <a:gd name="T2" fmla="*/ 8 w 22"/>
                    <a:gd name="T3" fmla="*/ 6 h 16"/>
                    <a:gd name="T4" fmla="*/ 18 w 22"/>
                    <a:gd name="T5" fmla="*/ 9 h 16"/>
                    <a:gd name="T6" fmla="*/ 22 w 22"/>
                    <a:gd name="T7" fmla="*/ 14 h 16"/>
                    <a:gd name="T8" fmla="*/ 22 w 22"/>
                    <a:gd name="T9" fmla="*/ 16 h 16"/>
                    <a:gd name="T10" fmla="*/ 0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8" y="0"/>
                      </a:move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20" y="10"/>
                        <a:pt x="22" y="12"/>
                        <a:pt x="22" y="14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0" y="16"/>
                        <a:pt x="0" y="16"/>
                        <a:pt x="0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2" name="Oval 55">
                  <a:extLst>
                    <a:ext uri="{FF2B5EF4-FFF2-40B4-BE49-F238E27FC236}">
                      <a16:creationId xmlns:a16="http://schemas.microsoft.com/office/drawing/2014/main" id="{BDA2F5A8-B23C-499E-9267-3DC7A37FA7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24263" y="2895601"/>
                  <a:ext cx="90488" cy="96838"/>
                </a:xfrm>
                <a:prstGeom prst="ellips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56">
                  <a:extLst>
                    <a:ext uri="{FF2B5EF4-FFF2-40B4-BE49-F238E27FC236}">
                      <a16:creationId xmlns:a16="http://schemas.microsoft.com/office/drawing/2014/main" id="{099EF59E-5EEF-46B5-962D-A5FD94EA51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4263" y="2928939"/>
                  <a:ext cx="90488" cy="14288"/>
                </a:xfrm>
                <a:custGeom>
                  <a:avLst/>
                  <a:gdLst>
                    <a:gd name="T0" fmla="*/ 24 w 24"/>
                    <a:gd name="T1" fmla="*/ 2 h 4"/>
                    <a:gd name="T2" fmla="*/ 14 w 24"/>
                    <a:gd name="T3" fmla="*/ 0 h 4"/>
                    <a:gd name="T4" fmla="*/ 0 w 24"/>
                    <a:gd name="T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" h="4">
                      <a:moveTo>
                        <a:pt x="24" y="2"/>
                      </a:moveTo>
                      <a:cubicBezTo>
                        <a:pt x="22" y="4"/>
                        <a:pt x="16" y="4"/>
                        <a:pt x="14" y="0"/>
                      </a:cubicBezTo>
                      <a:cubicBezTo>
                        <a:pt x="10" y="4"/>
                        <a:pt x="3" y="4"/>
                        <a:pt x="0" y="1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4" name="Freeform 57">
                  <a:extLst>
                    <a:ext uri="{FF2B5EF4-FFF2-40B4-BE49-F238E27FC236}">
                      <a16:creationId xmlns:a16="http://schemas.microsoft.com/office/drawing/2014/main" id="{FCE54361-37E3-4F52-B33F-6FAA345B48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7263" y="3181351"/>
                  <a:ext cx="82550" cy="60325"/>
                </a:xfrm>
                <a:custGeom>
                  <a:avLst/>
                  <a:gdLst>
                    <a:gd name="T0" fmla="*/ 14 w 22"/>
                    <a:gd name="T1" fmla="*/ 0 h 16"/>
                    <a:gd name="T2" fmla="*/ 14 w 22"/>
                    <a:gd name="T3" fmla="*/ 6 h 16"/>
                    <a:gd name="T4" fmla="*/ 4 w 22"/>
                    <a:gd name="T5" fmla="*/ 9 h 16"/>
                    <a:gd name="T6" fmla="*/ 0 w 22"/>
                    <a:gd name="T7" fmla="*/ 14 h 16"/>
                    <a:gd name="T8" fmla="*/ 0 w 22"/>
                    <a:gd name="T9" fmla="*/ 16 h 16"/>
                    <a:gd name="T10" fmla="*/ 22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14" y="0"/>
                      </a:move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2" y="10"/>
                        <a:pt x="0" y="12"/>
                        <a:pt x="0" y="14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Freeform 58">
                  <a:extLst>
                    <a:ext uri="{FF2B5EF4-FFF2-40B4-BE49-F238E27FC236}">
                      <a16:creationId xmlns:a16="http://schemas.microsoft.com/office/drawing/2014/main" id="{78645E47-D178-4E95-8459-77D1D8FF64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938" y="3181351"/>
                  <a:ext cx="82550" cy="60325"/>
                </a:xfrm>
                <a:custGeom>
                  <a:avLst/>
                  <a:gdLst>
                    <a:gd name="T0" fmla="*/ 8 w 22"/>
                    <a:gd name="T1" fmla="*/ 0 h 16"/>
                    <a:gd name="T2" fmla="*/ 8 w 22"/>
                    <a:gd name="T3" fmla="*/ 6 h 16"/>
                    <a:gd name="T4" fmla="*/ 18 w 22"/>
                    <a:gd name="T5" fmla="*/ 9 h 16"/>
                    <a:gd name="T6" fmla="*/ 22 w 22"/>
                    <a:gd name="T7" fmla="*/ 14 h 16"/>
                    <a:gd name="T8" fmla="*/ 22 w 22"/>
                    <a:gd name="T9" fmla="*/ 16 h 16"/>
                    <a:gd name="T10" fmla="*/ 0 w 22"/>
                    <a:gd name="T11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2" h="16">
                      <a:moveTo>
                        <a:pt x="8" y="0"/>
                      </a:moveTo>
                      <a:cubicBezTo>
                        <a:pt x="8" y="6"/>
                        <a:pt x="8" y="6"/>
                        <a:pt x="8" y="6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20" y="10"/>
                        <a:pt x="22" y="12"/>
                        <a:pt x="22" y="14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0" y="16"/>
                        <a:pt x="0" y="16"/>
                        <a:pt x="0" y="16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6" name="Oval 59">
                  <a:extLst>
                    <a:ext uri="{FF2B5EF4-FFF2-40B4-BE49-F238E27FC236}">
                      <a16:creationId xmlns:a16="http://schemas.microsoft.com/office/drawing/2014/main" id="{7854B272-51DE-4F9C-A5CA-3532EA082A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27426" y="3090864"/>
                  <a:ext cx="88900" cy="96838"/>
                </a:xfrm>
                <a:prstGeom prst="ellips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60">
                  <a:extLst>
                    <a:ext uri="{FF2B5EF4-FFF2-40B4-BE49-F238E27FC236}">
                      <a16:creationId xmlns:a16="http://schemas.microsoft.com/office/drawing/2014/main" id="{814DA909-0D02-4070-A399-CC0263BE57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7426" y="3124201"/>
                  <a:ext cx="88900" cy="15875"/>
                </a:xfrm>
                <a:custGeom>
                  <a:avLst/>
                  <a:gdLst>
                    <a:gd name="T0" fmla="*/ 24 w 24"/>
                    <a:gd name="T1" fmla="*/ 2 h 4"/>
                    <a:gd name="T2" fmla="*/ 14 w 24"/>
                    <a:gd name="T3" fmla="*/ 0 h 4"/>
                    <a:gd name="T4" fmla="*/ 0 w 24"/>
                    <a:gd name="T5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" h="4">
                      <a:moveTo>
                        <a:pt x="24" y="2"/>
                      </a:moveTo>
                      <a:cubicBezTo>
                        <a:pt x="22" y="4"/>
                        <a:pt x="16" y="4"/>
                        <a:pt x="14" y="0"/>
                      </a:cubicBezTo>
                      <a:cubicBezTo>
                        <a:pt x="10" y="4"/>
                        <a:pt x="3" y="4"/>
                        <a:pt x="0" y="1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Line 61">
                  <a:extLst>
                    <a:ext uri="{FF2B5EF4-FFF2-40B4-BE49-F238E27FC236}">
                      <a16:creationId xmlns:a16="http://schemas.microsoft.com/office/drawing/2014/main" id="{5899F489-EDA7-4EC2-826F-95D6DBC765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1226" y="3074989"/>
                  <a:ext cx="38100" cy="38100"/>
                </a:xfrm>
                <a:prstGeom prst="lin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62">
                  <a:extLst>
                    <a:ext uri="{FF2B5EF4-FFF2-40B4-BE49-F238E27FC236}">
                      <a16:creationId xmlns:a16="http://schemas.microsoft.com/office/drawing/2014/main" id="{83CCE497-C8F7-4970-AE29-490A81B267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654426" y="3074989"/>
                  <a:ext cx="38100" cy="38100"/>
                </a:xfrm>
                <a:prstGeom prst="lin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600301E-404F-4763-892B-EE1C3109F4D3}"/>
                  </a:ext>
                </a:extLst>
              </p:cNvPr>
              <p:cNvSpPr/>
              <p:nvPr/>
            </p:nvSpPr>
            <p:spPr>
              <a:xfrm>
                <a:off x="5642387" y="2856123"/>
                <a:ext cx="2445162" cy="461881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endParaRPr lang="en-US" sz="1600" i="1" dirty="0">
                  <a:solidFill>
                    <a:schemeClr val="bg1"/>
                  </a:solidFill>
                  <a:latin typeface="+mj-lt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375CECE-C8C6-426B-9A8C-EB696D69F141}"/>
                </a:ext>
              </a:extLst>
            </p:cNvPr>
            <p:cNvGrpSpPr/>
            <p:nvPr/>
          </p:nvGrpSpPr>
          <p:grpSpPr>
            <a:xfrm>
              <a:off x="4719329" y="4144392"/>
              <a:ext cx="3081773" cy="492443"/>
              <a:chOff x="5063285" y="3682982"/>
              <a:chExt cx="3081773" cy="492443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6974775F-B291-4B53-B461-88835C383ED5}"/>
                  </a:ext>
                </a:extLst>
              </p:cNvPr>
              <p:cNvGrpSpPr/>
              <p:nvPr/>
            </p:nvGrpSpPr>
            <p:grpSpPr>
              <a:xfrm>
                <a:off x="5063285" y="3728115"/>
                <a:ext cx="330200" cy="315913"/>
                <a:chOff x="4127500" y="2909888"/>
                <a:chExt cx="330200" cy="315913"/>
              </a:xfrm>
            </p:grpSpPr>
            <p:sp>
              <p:nvSpPr>
                <p:cNvPr id="42" name="Oval 268">
                  <a:extLst>
                    <a:ext uri="{FF2B5EF4-FFF2-40B4-BE49-F238E27FC236}">
                      <a16:creationId xmlns:a16="http://schemas.microsoft.com/office/drawing/2014/main" id="{FE9D5F51-D5BF-438E-8442-591451564E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9725" y="3060701"/>
                  <a:ext cx="76200" cy="74613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3" name="Freeform 269">
                  <a:extLst>
                    <a:ext uri="{FF2B5EF4-FFF2-40B4-BE49-F238E27FC236}">
                      <a16:creationId xmlns:a16="http://schemas.microsoft.com/office/drawing/2014/main" id="{4514A40D-D6F0-4AD6-9605-37581D312E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27500" y="3135313"/>
                  <a:ext cx="109538" cy="60325"/>
                </a:xfrm>
                <a:custGeom>
                  <a:avLst/>
                  <a:gdLst>
                    <a:gd name="T0" fmla="*/ 22 w 29"/>
                    <a:gd name="T1" fmla="*/ 16 h 16"/>
                    <a:gd name="T2" fmla="*/ 0 w 29"/>
                    <a:gd name="T3" fmla="*/ 16 h 16"/>
                    <a:gd name="T4" fmla="*/ 16 w 29"/>
                    <a:gd name="T5" fmla="*/ 0 h 16"/>
                    <a:gd name="T6" fmla="*/ 29 w 29"/>
                    <a:gd name="T7" fmla="*/ 7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" h="16">
                      <a:moveTo>
                        <a:pt x="22" y="16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7"/>
                        <a:pt x="7" y="0"/>
                        <a:pt x="16" y="0"/>
                      </a:cubicBezTo>
                      <a:cubicBezTo>
                        <a:pt x="21" y="0"/>
                        <a:pt x="26" y="3"/>
                        <a:pt x="29" y="7"/>
                      </a:cubicBezTo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4" name="Oval 270">
                  <a:extLst>
                    <a:ext uri="{FF2B5EF4-FFF2-40B4-BE49-F238E27FC236}">
                      <a16:creationId xmlns:a16="http://schemas.microsoft.com/office/drawing/2014/main" id="{B605F216-E7D2-42D4-8BCF-4B68365DD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0863" y="3060701"/>
                  <a:ext cx="74613" cy="74613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5" name="Freeform 271">
                  <a:extLst>
                    <a:ext uri="{FF2B5EF4-FFF2-40B4-BE49-F238E27FC236}">
                      <a16:creationId xmlns:a16="http://schemas.microsoft.com/office/drawing/2014/main" id="{7221B60C-9DC7-49BE-9845-B55F67481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49750" y="3135313"/>
                  <a:ext cx="107950" cy="60325"/>
                </a:xfrm>
                <a:custGeom>
                  <a:avLst/>
                  <a:gdLst>
                    <a:gd name="T0" fmla="*/ 0 w 29"/>
                    <a:gd name="T1" fmla="*/ 7 h 16"/>
                    <a:gd name="T2" fmla="*/ 13 w 29"/>
                    <a:gd name="T3" fmla="*/ 0 h 16"/>
                    <a:gd name="T4" fmla="*/ 29 w 29"/>
                    <a:gd name="T5" fmla="*/ 16 h 16"/>
                    <a:gd name="T6" fmla="*/ 7 w 29"/>
                    <a:gd name="T7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9" h="16">
                      <a:moveTo>
                        <a:pt x="0" y="7"/>
                      </a:moveTo>
                      <a:cubicBezTo>
                        <a:pt x="3" y="3"/>
                        <a:pt x="8" y="0"/>
                        <a:pt x="13" y="0"/>
                      </a:cubicBezTo>
                      <a:cubicBezTo>
                        <a:pt x="22" y="0"/>
                        <a:pt x="29" y="7"/>
                        <a:pt x="29" y="16"/>
                      </a:cubicBezTo>
                      <a:cubicBezTo>
                        <a:pt x="7" y="16"/>
                        <a:pt x="7" y="16"/>
                        <a:pt x="7" y="16"/>
                      </a:cubicBezTo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6" name="Oval 272">
                  <a:extLst>
                    <a:ext uri="{FF2B5EF4-FFF2-40B4-BE49-F238E27FC236}">
                      <a16:creationId xmlns:a16="http://schemas.microsoft.com/office/drawing/2014/main" id="{F7CDF7AF-4200-420D-ACFE-5F2B36CC0F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40213" y="3030538"/>
                  <a:ext cx="104775" cy="109538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7" name="Freeform 273">
                  <a:extLst>
                    <a:ext uri="{FF2B5EF4-FFF2-40B4-BE49-F238E27FC236}">
                      <a16:creationId xmlns:a16="http://schemas.microsoft.com/office/drawing/2014/main" id="{1A3F4268-4FB7-4106-9CDA-E5DFAC4ABF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14813" y="2986088"/>
                  <a:ext cx="157163" cy="36513"/>
                </a:xfrm>
                <a:custGeom>
                  <a:avLst/>
                  <a:gdLst>
                    <a:gd name="T0" fmla="*/ 0 w 42"/>
                    <a:gd name="T1" fmla="*/ 10 h 10"/>
                    <a:gd name="T2" fmla="*/ 21 w 42"/>
                    <a:gd name="T3" fmla="*/ 0 h 10"/>
                    <a:gd name="T4" fmla="*/ 42 w 42"/>
                    <a:gd name="T5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" h="10">
                      <a:moveTo>
                        <a:pt x="0" y="10"/>
                      </a:moveTo>
                      <a:cubicBezTo>
                        <a:pt x="5" y="4"/>
                        <a:pt x="13" y="0"/>
                        <a:pt x="21" y="0"/>
                      </a:cubicBezTo>
                      <a:cubicBezTo>
                        <a:pt x="29" y="0"/>
                        <a:pt x="37" y="4"/>
                        <a:pt x="42" y="10"/>
                      </a:cubicBezTo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8" name="Freeform 274">
                  <a:extLst>
                    <a:ext uri="{FF2B5EF4-FFF2-40B4-BE49-F238E27FC236}">
                      <a16:creationId xmlns:a16="http://schemas.microsoft.com/office/drawing/2014/main" id="{090011F9-93DA-4E08-8197-0237F3720B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87825" y="2947988"/>
                  <a:ext cx="211138" cy="49213"/>
                </a:xfrm>
                <a:custGeom>
                  <a:avLst/>
                  <a:gdLst>
                    <a:gd name="T0" fmla="*/ 0 w 56"/>
                    <a:gd name="T1" fmla="*/ 13 h 13"/>
                    <a:gd name="T2" fmla="*/ 28 w 56"/>
                    <a:gd name="T3" fmla="*/ 0 h 13"/>
                    <a:gd name="T4" fmla="*/ 56 w 56"/>
                    <a:gd name="T5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6" h="13">
                      <a:moveTo>
                        <a:pt x="0" y="13"/>
                      </a:moveTo>
                      <a:cubicBezTo>
                        <a:pt x="7" y="5"/>
                        <a:pt x="17" y="0"/>
                        <a:pt x="28" y="0"/>
                      </a:cubicBezTo>
                      <a:cubicBezTo>
                        <a:pt x="39" y="0"/>
                        <a:pt x="49" y="5"/>
                        <a:pt x="56" y="13"/>
                      </a:cubicBezTo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9" name="Freeform 275">
                  <a:extLst>
                    <a:ext uri="{FF2B5EF4-FFF2-40B4-BE49-F238E27FC236}">
                      <a16:creationId xmlns:a16="http://schemas.microsoft.com/office/drawing/2014/main" id="{832AB0A3-F36E-4927-8E0D-E0C36586B7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57663" y="2909888"/>
                  <a:ext cx="269875" cy="63500"/>
                </a:xfrm>
                <a:custGeom>
                  <a:avLst/>
                  <a:gdLst>
                    <a:gd name="T0" fmla="*/ 0 w 72"/>
                    <a:gd name="T1" fmla="*/ 17 h 17"/>
                    <a:gd name="T2" fmla="*/ 36 w 72"/>
                    <a:gd name="T3" fmla="*/ 0 h 17"/>
                    <a:gd name="T4" fmla="*/ 72 w 72"/>
                    <a:gd name="T5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" h="17">
                      <a:moveTo>
                        <a:pt x="0" y="17"/>
                      </a:moveTo>
                      <a:cubicBezTo>
                        <a:pt x="8" y="7"/>
                        <a:pt x="21" y="0"/>
                        <a:pt x="36" y="0"/>
                      </a:cubicBezTo>
                      <a:cubicBezTo>
                        <a:pt x="51" y="0"/>
                        <a:pt x="64" y="7"/>
                        <a:pt x="72" y="17"/>
                      </a:cubicBezTo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0" name="Freeform 276">
                  <a:extLst>
                    <a:ext uri="{FF2B5EF4-FFF2-40B4-BE49-F238E27FC236}">
                      <a16:creationId xmlns:a16="http://schemas.microsoft.com/office/drawing/2014/main" id="{69185BBE-8B01-4042-9127-5E91F9AA4D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06875" y="3140076"/>
                  <a:ext cx="173038" cy="85725"/>
                </a:xfrm>
                <a:custGeom>
                  <a:avLst/>
                  <a:gdLst>
                    <a:gd name="T0" fmla="*/ 46 w 46"/>
                    <a:gd name="T1" fmla="*/ 23 h 23"/>
                    <a:gd name="T2" fmla="*/ 0 w 46"/>
                    <a:gd name="T3" fmla="*/ 23 h 23"/>
                    <a:gd name="T4" fmla="*/ 23 w 46"/>
                    <a:gd name="T5" fmla="*/ 0 h 23"/>
                    <a:gd name="T6" fmla="*/ 46 w 46"/>
                    <a:gd name="T7" fmla="*/ 2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6" h="23">
                      <a:moveTo>
                        <a:pt x="46" y="23"/>
                      </a:move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0" y="10"/>
                        <a:pt x="10" y="0"/>
                        <a:pt x="23" y="0"/>
                      </a:cubicBezTo>
                      <a:cubicBezTo>
                        <a:pt x="36" y="0"/>
                        <a:pt x="46" y="10"/>
                        <a:pt x="46" y="23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7E16F25-9A73-4F49-8593-4DDEE2A8AB5D}"/>
                  </a:ext>
                </a:extLst>
              </p:cNvPr>
              <p:cNvSpPr/>
              <p:nvPr/>
            </p:nvSpPr>
            <p:spPr>
              <a:xfrm>
                <a:off x="5656764" y="3682982"/>
                <a:ext cx="2488294" cy="492443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i="1" dirty="0">
                    <a:latin typeface="+mj-lt"/>
                    <a:cs typeface="Segoe UI"/>
                  </a:rPr>
                  <a:t>Percentage of elderly disabled with caregivers</a:t>
                </a:r>
                <a:endParaRPr lang="en-US" sz="1600" i="1" dirty="0">
                  <a:latin typeface="+mj-lt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B7DB03EE-BB00-488A-B451-6DF7DA5AC981}"/>
                </a:ext>
              </a:extLst>
            </p:cNvPr>
            <p:cNvGrpSpPr/>
            <p:nvPr/>
          </p:nvGrpSpPr>
          <p:grpSpPr>
            <a:xfrm>
              <a:off x="4712185" y="5132491"/>
              <a:ext cx="3088917" cy="492443"/>
              <a:chOff x="5056141" y="4603375"/>
              <a:chExt cx="3088917" cy="492443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FED15E3-F2A7-469C-B628-611921767E34}"/>
                  </a:ext>
                </a:extLst>
              </p:cNvPr>
              <p:cNvGrpSpPr/>
              <p:nvPr/>
            </p:nvGrpSpPr>
            <p:grpSpPr>
              <a:xfrm>
                <a:off x="5056141" y="4633426"/>
                <a:ext cx="344488" cy="346075"/>
                <a:chOff x="4841875" y="2895601"/>
                <a:chExt cx="344488" cy="346075"/>
              </a:xfrm>
            </p:grpSpPr>
            <p:sp>
              <p:nvSpPr>
                <p:cNvPr id="31" name="Freeform 258">
                  <a:extLst>
                    <a:ext uri="{FF2B5EF4-FFF2-40B4-BE49-F238E27FC236}">
                      <a16:creationId xmlns:a16="http://schemas.microsoft.com/office/drawing/2014/main" id="{66F1D3E8-8C01-4B14-8A55-CA0D336560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16488" y="2895601"/>
                  <a:ext cx="195263" cy="195263"/>
                </a:xfrm>
                <a:custGeom>
                  <a:avLst/>
                  <a:gdLst>
                    <a:gd name="T0" fmla="*/ 52 w 52"/>
                    <a:gd name="T1" fmla="*/ 26 h 52"/>
                    <a:gd name="T2" fmla="*/ 26 w 52"/>
                    <a:gd name="T3" fmla="*/ 52 h 52"/>
                    <a:gd name="T4" fmla="*/ 0 w 52"/>
                    <a:gd name="T5" fmla="*/ 25 h 52"/>
                    <a:gd name="T6" fmla="*/ 25 w 52"/>
                    <a:gd name="T7" fmla="*/ 0 h 52"/>
                    <a:gd name="T8" fmla="*/ 26 w 52"/>
                    <a:gd name="T9" fmla="*/ 0 h 52"/>
                    <a:gd name="T10" fmla="*/ 52 w 52"/>
                    <a:gd name="T11" fmla="*/ 26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2" h="52">
                      <a:moveTo>
                        <a:pt x="52" y="26"/>
                      </a:moveTo>
                      <a:cubicBezTo>
                        <a:pt x="52" y="40"/>
                        <a:pt x="40" y="52"/>
                        <a:pt x="26" y="52"/>
                      </a:cubicBezTo>
                      <a:cubicBezTo>
                        <a:pt x="12" y="52"/>
                        <a:pt x="0" y="40"/>
                        <a:pt x="0" y="25"/>
                      </a:cubicBezTo>
                      <a:cubicBezTo>
                        <a:pt x="0" y="11"/>
                        <a:pt x="11" y="1"/>
                        <a:pt x="25" y="0"/>
                      </a:cubicBezTo>
                      <a:cubicBezTo>
                        <a:pt x="25" y="0"/>
                        <a:pt x="26" y="0"/>
                        <a:pt x="26" y="0"/>
                      </a:cubicBezTo>
                      <a:cubicBezTo>
                        <a:pt x="40" y="0"/>
                        <a:pt x="52" y="11"/>
                        <a:pt x="52" y="26"/>
                      </a:cubicBezTo>
                      <a:close/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259">
                  <a:extLst>
                    <a:ext uri="{FF2B5EF4-FFF2-40B4-BE49-F238E27FC236}">
                      <a16:creationId xmlns:a16="http://schemas.microsoft.com/office/drawing/2014/main" id="{C7E4337D-67E8-477B-8284-B0579D0160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7763" y="2895601"/>
                  <a:ext cx="52388" cy="195263"/>
                </a:xfrm>
                <a:custGeom>
                  <a:avLst/>
                  <a:gdLst>
                    <a:gd name="T0" fmla="*/ 14 w 14"/>
                    <a:gd name="T1" fmla="*/ 0 h 52"/>
                    <a:gd name="T2" fmla="*/ 14 w 14"/>
                    <a:gd name="T3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" h="52">
                      <a:moveTo>
                        <a:pt x="14" y="0"/>
                      </a:moveTo>
                      <a:cubicBezTo>
                        <a:pt x="0" y="15"/>
                        <a:pt x="0" y="34"/>
                        <a:pt x="14" y="52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260">
                  <a:extLst>
                    <a:ext uri="{FF2B5EF4-FFF2-40B4-BE49-F238E27FC236}">
                      <a16:creationId xmlns:a16="http://schemas.microsoft.com/office/drawing/2014/main" id="{C2AF1AB5-D96A-4C19-BE80-2C8A0736E9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8088" y="2895601"/>
                  <a:ext cx="52388" cy="195263"/>
                </a:xfrm>
                <a:custGeom>
                  <a:avLst/>
                  <a:gdLst>
                    <a:gd name="T0" fmla="*/ 0 w 14"/>
                    <a:gd name="T1" fmla="*/ 0 h 52"/>
                    <a:gd name="T2" fmla="*/ 0 w 14"/>
                    <a:gd name="T3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4" h="52">
                      <a:moveTo>
                        <a:pt x="0" y="0"/>
                      </a:moveTo>
                      <a:cubicBezTo>
                        <a:pt x="14" y="15"/>
                        <a:pt x="14" y="34"/>
                        <a:pt x="0" y="52"/>
                      </a:cubicBezTo>
                    </a:path>
                  </a:pathLst>
                </a:cu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Line 261">
                  <a:extLst>
                    <a:ext uri="{FF2B5EF4-FFF2-40B4-BE49-F238E27FC236}">
                      <a16:creationId xmlns:a16="http://schemas.microsoft.com/office/drawing/2014/main" id="{FF7B7042-5F74-4182-89DF-79E95F0748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32363" y="3044826"/>
                  <a:ext cx="165100" cy="0"/>
                </a:xfrm>
                <a:prstGeom prst="lin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Line 262">
                  <a:extLst>
                    <a:ext uri="{FF2B5EF4-FFF2-40B4-BE49-F238E27FC236}">
                      <a16:creationId xmlns:a16="http://schemas.microsoft.com/office/drawing/2014/main" id="{6D40A249-C0DF-492C-98A0-5563396CED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32363" y="2940051"/>
                  <a:ext cx="165100" cy="0"/>
                </a:xfrm>
                <a:prstGeom prst="lin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Line 263">
                  <a:extLst>
                    <a:ext uri="{FF2B5EF4-FFF2-40B4-BE49-F238E27FC236}">
                      <a16:creationId xmlns:a16="http://schemas.microsoft.com/office/drawing/2014/main" id="{0424966D-2E93-463D-925D-8EC1314AA4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16488" y="2992438"/>
                  <a:ext cx="195263" cy="0"/>
                </a:xfrm>
                <a:prstGeom prst="line">
                  <a:avLst/>
                </a:prstGeom>
                <a:noFill/>
                <a:ln w="14288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Oval 264">
                  <a:extLst>
                    <a:ext uri="{FF2B5EF4-FFF2-40B4-BE49-F238E27FC236}">
                      <a16:creationId xmlns:a16="http://schemas.microsoft.com/office/drawing/2014/main" id="{A2027076-84C0-41AA-ABE6-E182664DD1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64100" y="3105151"/>
                  <a:ext cx="74613" cy="76200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Oval 265">
                  <a:extLst>
                    <a:ext uri="{FF2B5EF4-FFF2-40B4-BE49-F238E27FC236}">
                      <a16:creationId xmlns:a16="http://schemas.microsoft.com/office/drawing/2014/main" id="{34911030-E1C4-47C6-B878-AB9504619E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76813" y="3105151"/>
                  <a:ext cx="74613" cy="76200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Oval 266">
                  <a:extLst>
                    <a:ext uri="{FF2B5EF4-FFF2-40B4-BE49-F238E27FC236}">
                      <a16:creationId xmlns:a16="http://schemas.microsoft.com/office/drawing/2014/main" id="{872A828C-C960-409B-BA85-F3FA58C587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89525" y="3105151"/>
                  <a:ext cx="74613" cy="76200"/>
                </a:xfrm>
                <a:prstGeom prst="ellipse">
                  <a:avLst/>
                </a:pr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0" name="Freeform 267">
                  <a:extLst>
                    <a:ext uri="{FF2B5EF4-FFF2-40B4-BE49-F238E27FC236}">
                      <a16:creationId xmlns:a16="http://schemas.microsoft.com/office/drawing/2014/main" id="{111031BF-F147-4673-B7D2-BAB9FDE013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1875" y="3181351"/>
                  <a:ext cx="344488" cy="60325"/>
                </a:xfrm>
                <a:custGeom>
                  <a:avLst/>
                  <a:gdLst>
                    <a:gd name="T0" fmla="*/ 76 w 92"/>
                    <a:gd name="T1" fmla="*/ 0 h 16"/>
                    <a:gd name="T2" fmla="*/ 61 w 92"/>
                    <a:gd name="T3" fmla="*/ 11 h 16"/>
                    <a:gd name="T4" fmla="*/ 46 w 92"/>
                    <a:gd name="T5" fmla="*/ 0 h 16"/>
                    <a:gd name="T6" fmla="*/ 31 w 92"/>
                    <a:gd name="T7" fmla="*/ 11 h 16"/>
                    <a:gd name="T8" fmla="*/ 16 w 92"/>
                    <a:gd name="T9" fmla="*/ 0 h 16"/>
                    <a:gd name="T10" fmla="*/ 0 w 92"/>
                    <a:gd name="T11" fmla="*/ 16 h 16"/>
                    <a:gd name="T12" fmla="*/ 92 w 92"/>
                    <a:gd name="T13" fmla="*/ 16 h 16"/>
                    <a:gd name="T14" fmla="*/ 76 w 92"/>
                    <a:gd name="T15" fmla="*/ 0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2" h="16">
                      <a:moveTo>
                        <a:pt x="76" y="0"/>
                      </a:moveTo>
                      <a:cubicBezTo>
                        <a:pt x="69" y="0"/>
                        <a:pt x="63" y="4"/>
                        <a:pt x="61" y="11"/>
                      </a:cubicBezTo>
                      <a:cubicBezTo>
                        <a:pt x="59" y="4"/>
                        <a:pt x="53" y="0"/>
                        <a:pt x="46" y="0"/>
                      </a:cubicBezTo>
                      <a:cubicBezTo>
                        <a:pt x="39" y="0"/>
                        <a:pt x="33" y="4"/>
                        <a:pt x="31" y="11"/>
                      </a:cubicBezTo>
                      <a:cubicBezTo>
                        <a:pt x="29" y="4"/>
                        <a:pt x="23" y="0"/>
                        <a:pt x="16" y="0"/>
                      </a:cubicBezTo>
                      <a:cubicBezTo>
                        <a:pt x="7" y="0"/>
                        <a:pt x="0" y="8"/>
                        <a:pt x="0" y="16"/>
                      </a:cubicBezTo>
                      <a:cubicBezTo>
                        <a:pt x="92" y="16"/>
                        <a:pt x="92" y="16"/>
                        <a:pt x="92" y="16"/>
                      </a:cubicBezTo>
                      <a:cubicBezTo>
                        <a:pt x="92" y="8"/>
                        <a:pt x="85" y="0"/>
                        <a:pt x="76" y="0"/>
                      </a:cubicBezTo>
                      <a:close/>
                    </a:path>
                  </a:pathLst>
                </a:custGeom>
                <a:noFill/>
                <a:ln w="14288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482C2C4-A83F-481A-A4DA-8A5D9AD7A680}"/>
                  </a:ext>
                </a:extLst>
              </p:cNvPr>
              <p:cNvSpPr/>
              <p:nvPr/>
            </p:nvSpPr>
            <p:spPr>
              <a:xfrm>
                <a:off x="5656764" y="4603375"/>
                <a:ext cx="2488294" cy="492443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i="1">
                    <a:latin typeface="+mj-lt"/>
                    <a:cs typeface="Calibri Light"/>
                  </a:rPr>
                  <a:t>Percentage of elderly disabled without </a:t>
                </a:r>
                <a:r>
                  <a:rPr lang="en-US" sz="1600" i="1">
                    <a:solidFill>
                      <a:srgbClr val="000000"/>
                    </a:solidFill>
                    <a:latin typeface="+mj-lt"/>
                    <a:cs typeface="Calibri Light"/>
                  </a:rPr>
                  <a:t>caregivers</a:t>
                </a:r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FB86711-61B6-4E9F-94FC-7E4E4C2AFDBB}"/>
                </a:ext>
              </a:extLst>
            </p:cNvPr>
            <p:cNvGrpSpPr/>
            <p:nvPr/>
          </p:nvGrpSpPr>
          <p:grpSpPr>
            <a:xfrm>
              <a:off x="4721542" y="2742223"/>
              <a:ext cx="2998053" cy="246221"/>
              <a:chOff x="4721542" y="2734320"/>
              <a:chExt cx="2998053" cy="24622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AF81162-F8E5-4429-8E39-AF70CBB53233}"/>
                  </a:ext>
                </a:extLst>
              </p:cNvPr>
              <p:cNvGrpSpPr/>
              <p:nvPr/>
            </p:nvGrpSpPr>
            <p:grpSpPr>
              <a:xfrm>
                <a:off x="5298431" y="2813121"/>
                <a:ext cx="2421164" cy="117336"/>
                <a:chOff x="4674462" y="2940354"/>
                <a:chExt cx="3045133" cy="107316"/>
              </a:xfrm>
            </p:grpSpPr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946F7D42-7783-4AA6-ADD6-AB6D2DF05CAF}"/>
                    </a:ext>
                  </a:extLst>
                </p:cNvPr>
                <p:cNvSpPr/>
                <p:nvPr/>
              </p:nvSpPr>
              <p:spPr>
                <a:xfrm>
                  <a:off x="4674462" y="2940367"/>
                  <a:ext cx="3045133" cy="810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2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1" name="Rectangle: Rounded Corners 70">
                  <a:extLst>
                    <a:ext uri="{FF2B5EF4-FFF2-40B4-BE49-F238E27FC236}">
                      <a16:creationId xmlns:a16="http://schemas.microsoft.com/office/drawing/2014/main" id="{0A78528F-E9CB-4B99-BD4F-A6AE016C76C8}"/>
                    </a:ext>
                  </a:extLst>
                </p:cNvPr>
                <p:cNvSpPr/>
                <p:nvPr/>
              </p:nvSpPr>
              <p:spPr>
                <a:xfrm>
                  <a:off x="4674463" y="2940354"/>
                  <a:ext cx="1689627" cy="10731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67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BE1CF42-34AD-45F7-9BB7-06D7FDE081B7}"/>
                  </a:ext>
                </a:extLst>
              </p:cNvPr>
              <p:cNvSpPr/>
              <p:nvPr/>
            </p:nvSpPr>
            <p:spPr>
              <a:xfrm>
                <a:off x="4721542" y="2734320"/>
                <a:ext cx="446424" cy="246221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i="1" dirty="0">
                    <a:latin typeface="+mj-lt"/>
                    <a:cs typeface="Segoe UI"/>
                  </a:rPr>
                  <a:t>4.5%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2F17230-3C6B-4C60-8575-90C979038AC0}"/>
                </a:ext>
              </a:extLst>
            </p:cNvPr>
            <p:cNvGrpSpPr/>
            <p:nvPr/>
          </p:nvGrpSpPr>
          <p:grpSpPr>
            <a:xfrm>
              <a:off x="4721542" y="3730321"/>
              <a:ext cx="2998053" cy="246221"/>
              <a:chOff x="4721542" y="3848257"/>
              <a:chExt cx="2998053" cy="246221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19E0996D-AF4A-4FFB-A88F-2FEE0A9EDCD2}"/>
                  </a:ext>
                </a:extLst>
              </p:cNvPr>
              <p:cNvGrpSpPr/>
              <p:nvPr/>
            </p:nvGrpSpPr>
            <p:grpSpPr>
              <a:xfrm>
                <a:off x="5298431" y="3927069"/>
                <a:ext cx="2421164" cy="88596"/>
                <a:chOff x="4674462" y="2940354"/>
                <a:chExt cx="3045133" cy="81030"/>
              </a:xfrm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214774FE-1FFD-4D64-8A37-76CB44EB021C}"/>
                    </a:ext>
                  </a:extLst>
                </p:cNvPr>
                <p:cNvSpPr/>
                <p:nvPr/>
              </p:nvSpPr>
              <p:spPr>
                <a:xfrm>
                  <a:off x="4674462" y="2940367"/>
                  <a:ext cx="3045133" cy="810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2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Rectangle: Rounded Corners 79">
                  <a:extLst>
                    <a:ext uri="{FF2B5EF4-FFF2-40B4-BE49-F238E27FC236}">
                      <a16:creationId xmlns:a16="http://schemas.microsoft.com/office/drawing/2014/main" id="{CCFD5BBD-3EB8-4D70-947E-F5AFBFF96EC0}"/>
                    </a:ext>
                  </a:extLst>
                </p:cNvPr>
                <p:cNvSpPr/>
                <p:nvPr/>
              </p:nvSpPr>
              <p:spPr>
                <a:xfrm>
                  <a:off x="4674465" y="2940354"/>
                  <a:ext cx="1569155" cy="810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67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C76473C-D689-4828-A3C2-DBFA64DB3596}"/>
                  </a:ext>
                </a:extLst>
              </p:cNvPr>
              <p:cNvSpPr/>
              <p:nvPr/>
            </p:nvSpPr>
            <p:spPr>
              <a:xfrm>
                <a:off x="4721542" y="3848257"/>
                <a:ext cx="446424" cy="246221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i="1" dirty="0">
                    <a:latin typeface="+mj-lt"/>
                    <a:cs typeface="Segoe UI"/>
                  </a:rPr>
                  <a:t>50%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604189C-E133-4D62-9D02-29130FCCC123}"/>
                </a:ext>
              </a:extLst>
            </p:cNvPr>
            <p:cNvGrpSpPr/>
            <p:nvPr/>
          </p:nvGrpSpPr>
          <p:grpSpPr>
            <a:xfrm>
              <a:off x="4721542" y="4718420"/>
              <a:ext cx="2998053" cy="246221"/>
              <a:chOff x="4721542" y="4753566"/>
              <a:chExt cx="2998053" cy="246221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FBA54A74-91C7-4A8E-8256-29CECA65EBE5}"/>
                  </a:ext>
                </a:extLst>
              </p:cNvPr>
              <p:cNvGrpSpPr/>
              <p:nvPr/>
            </p:nvGrpSpPr>
            <p:grpSpPr>
              <a:xfrm>
                <a:off x="5298431" y="4832378"/>
                <a:ext cx="2421164" cy="88596"/>
                <a:chOff x="4674462" y="2940354"/>
                <a:chExt cx="3045133" cy="81030"/>
              </a:xfrm>
            </p:grpSpPr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BAF05105-E146-4A76-80BC-D132339D80CC}"/>
                    </a:ext>
                  </a:extLst>
                </p:cNvPr>
                <p:cNvSpPr/>
                <p:nvPr/>
              </p:nvSpPr>
              <p:spPr>
                <a:xfrm>
                  <a:off x="4674462" y="2940367"/>
                  <a:ext cx="3045133" cy="810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2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C85F8D48-F497-4FF4-86A4-A306F3F0ED91}"/>
                    </a:ext>
                  </a:extLst>
                </p:cNvPr>
                <p:cNvSpPr/>
                <p:nvPr/>
              </p:nvSpPr>
              <p:spPr>
                <a:xfrm>
                  <a:off x="4674463" y="2940354"/>
                  <a:ext cx="2392762" cy="810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67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C35B425-E17C-46A6-BC1C-89C34E2B336C}"/>
                  </a:ext>
                </a:extLst>
              </p:cNvPr>
              <p:cNvSpPr/>
              <p:nvPr/>
            </p:nvSpPr>
            <p:spPr>
              <a:xfrm>
                <a:off x="4721542" y="4753566"/>
                <a:ext cx="446424" cy="246221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i="1" dirty="0">
                    <a:latin typeface="+mj-lt"/>
                    <a:cs typeface="Segoe UI"/>
                  </a:rPr>
                  <a:t>61%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6413DCC-904B-4563-90F1-A5A71C657368}"/>
                </a:ext>
              </a:extLst>
            </p:cNvPr>
            <p:cNvGrpSpPr/>
            <p:nvPr/>
          </p:nvGrpSpPr>
          <p:grpSpPr>
            <a:xfrm>
              <a:off x="4721542" y="5706518"/>
              <a:ext cx="2998053" cy="246221"/>
              <a:chOff x="4721542" y="5706518"/>
              <a:chExt cx="2998053" cy="246221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C7ADDD0C-4947-4DFD-8604-1C7FC185D6F1}"/>
                  </a:ext>
                </a:extLst>
              </p:cNvPr>
              <p:cNvGrpSpPr/>
              <p:nvPr/>
            </p:nvGrpSpPr>
            <p:grpSpPr>
              <a:xfrm>
                <a:off x="5298431" y="5785330"/>
                <a:ext cx="2421164" cy="88596"/>
                <a:chOff x="4674462" y="2940354"/>
                <a:chExt cx="3045133" cy="81030"/>
              </a:xfrm>
            </p:grpSpPr>
            <p:sp>
              <p:nvSpPr>
                <p:cNvPr id="88" name="Rectangle: Rounded Corners 87">
                  <a:extLst>
                    <a:ext uri="{FF2B5EF4-FFF2-40B4-BE49-F238E27FC236}">
                      <a16:creationId xmlns:a16="http://schemas.microsoft.com/office/drawing/2014/main" id="{3EE0ED0C-1321-4AB3-B03A-B7AD85571E6C}"/>
                    </a:ext>
                  </a:extLst>
                </p:cNvPr>
                <p:cNvSpPr/>
                <p:nvPr/>
              </p:nvSpPr>
              <p:spPr>
                <a:xfrm>
                  <a:off x="4674462" y="2940367"/>
                  <a:ext cx="3045133" cy="810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2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4409F7EA-DE17-4C15-80F3-78361F8366BE}"/>
                    </a:ext>
                  </a:extLst>
                </p:cNvPr>
                <p:cNvSpPr/>
                <p:nvPr/>
              </p:nvSpPr>
              <p:spPr>
                <a:xfrm>
                  <a:off x="4674465" y="2940354"/>
                  <a:ext cx="949205" cy="8101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67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101B8DB-BADB-4084-8CD6-6CEEA620099A}"/>
                  </a:ext>
                </a:extLst>
              </p:cNvPr>
              <p:cNvSpPr/>
              <p:nvPr/>
            </p:nvSpPr>
            <p:spPr>
              <a:xfrm>
                <a:off x="4721542" y="5706518"/>
                <a:ext cx="446424" cy="246221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1600" i="1">
                    <a:latin typeface="+mj-lt"/>
                    <a:cs typeface="Segoe UI"/>
                  </a:rPr>
                  <a:t>37%</a:t>
                </a:r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6F33D2A-AFAD-A70B-9E0C-AF34627C7BC3}"/>
              </a:ext>
            </a:extLst>
          </p:cNvPr>
          <p:cNvSpPr txBox="1"/>
          <p:nvPr/>
        </p:nvSpPr>
        <p:spPr>
          <a:xfrm>
            <a:off x="5000280" y="3208362"/>
            <a:ext cx="219807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solidFill>
                  <a:schemeClr val="bg2">
                    <a:lumMod val="10000"/>
                  </a:schemeClr>
                </a:solidFill>
                <a:latin typeface="Calibri Light"/>
                <a:cs typeface="Calibri"/>
              </a:rPr>
              <a:t>People with </a:t>
            </a:r>
            <a:r>
              <a:rPr lang="en-US" sz="1600" i="1" dirty="0" err="1">
                <a:solidFill>
                  <a:schemeClr val="bg2">
                    <a:lumMod val="10000"/>
                  </a:schemeClr>
                </a:solidFill>
                <a:latin typeface="Calibri Light"/>
                <a:cs typeface="Calibri"/>
              </a:rPr>
              <a:t>Alzeimers</a:t>
            </a:r>
            <a:endParaRPr lang="en-US" sz="1600" i="1" dirty="0">
              <a:solidFill>
                <a:schemeClr val="bg2">
                  <a:lumMod val="10000"/>
                </a:schemeClr>
              </a:solidFill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094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 hidden="1">
            <a:extLst>
              <a:ext uri="{FF2B5EF4-FFF2-40B4-BE49-F238E27FC236}">
                <a16:creationId xmlns:a16="http://schemas.microsoft.com/office/drawing/2014/main" id="{6FF5F564-0C08-4A3C-8BAC-1FADF459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4</a:t>
            </a:r>
          </a:p>
        </p:txBody>
      </p: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E6D6E19C-DE46-4402-8CBF-17BB95458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53986" y="523622"/>
            <a:ext cx="4140253" cy="1600438"/>
            <a:chOff x="9379627" y="4396376"/>
            <a:chExt cx="2291769" cy="1600438"/>
          </a:xfrm>
        </p:grpSpPr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3DF722C9-361F-401E-AD34-54132A8436B3}"/>
                </a:ext>
              </a:extLst>
            </p:cNvPr>
            <p:cNvSpPr txBox="1"/>
            <p:nvPr/>
          </p:nvSpPr>
          <p:spPr>
            <a:xfrm>
              <a:off x="9379627" y="4396376"/>
              <a:ext cx="2291769" cy="160043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2060"/>
                  </a:solidFill>
                  <a:latin typeface="Segoe UI"/>
                  <a:cs typeface="Segoe UI"/>
                </a:rPr>
                <a:t>RASBERRY PI B+(2014 MODEL)</a:t>
              </a:r>
            </a:p>
            <a:p>
              <a:pPr algn="ctr"/>
              <a:endParaRPr lang="en-US" sz="1600" b="1" dirty="0">
                <a:solidFill>
                  <a:srgbClr val="002060"/>
                </a:solidFill>
                <a:latin typeface="Segoe UI"/>
                <a:cs typeface="Segoe UI"/>
              </a:endParaRPr>
            </a:p>
            <a:p>
              <a:pPr algn="ctr"/>
              <a:r>
                <a:rPr lang="en-US" sz="1200" i="1" dirty="0">
                  <a:solidFill>
                    <a:srgbClr val="002060"/>
                  </a:solidFill>
                  <a:latin typeface="Segoe UI"/>
                  <a:cs typeface="Segoe UI"/>
                </a:rPr>
                <a:t>Image Processing to detect the patient </a:t>
              </a:r>
            </a:p>
            <a:p>
              <a:pPr algn="ctr"/>
              <a:r>
                <a:rPr lang="en-US" sz="1200" i="1" dirty="0">
                  <a:solidFill>
                    <a:srgbClr val="002060"/>
                  </a:solidFill>
                  <a:latin typeface="Segoe UI"/>
                  <a:cs typeface="Segoe UI"/>
                </a:rPr>
                <a:t>before dispensing pills</a:t>
              </a:r>
              <a:endParaRPr lang="en-US" dirty="0"/>
            </a:p>
            <a:p>
              <a:pPr algn="ctr"/>
              <a:endParaRPr lang="en-US" sz="1600" b="1" dirty="0">
                <a:solidFill>
                  <a:srgbClr val="002060"/>
                </a:solidFill>
                <a:latin typeface="Segoe UI"/>
                <a:cs typeface="Segoe UI"/>
              </a:endParaRPr>
            </a:p>
            <a:p>
              <a:pPr algn="ctr"/>
              <a:endParaRPr lang="en-US" sz="1600" b="1" dirty="0">
                <a:solidFill>
                  <a:srgbClr val="002060"/>
                </a:solidFill>
                <a:latin typeface="Segoe UI"/>
                <a:cs typeface="Segoe UI"/>
              </a:endParaRPr>
            </a:p>
            <a:p>
              <a:pPr algn="ctr"/>
              <a:endParaRPr lang="en-US" sz="1600" b="1" dirty="0">
                <a:solidFill>
                  <a:srgbClr val="002060"/>
                </a:solidFill>
                <a:latin typeface="Segoe UI"/>
                <a:cs typeface="Segoe UI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49C08362-5A73-4AB7-8811-DC216428D42D}"/>
                </a:ext>
              </a:extLst>
            </p:cNvPr>
            <p:cNvSpPr/>
            <p:nvPr/>
          </p:nvSpPr>
          <p:spPr>
            <a:xfrm>
              <a:off x="9695998" y="4682385"/>
              <a:ext cx="1729394" cy="246221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ctr"/>
              <a:endParaRPr lang="en-US" sz="1600" i="1" dirty="0">
                <a:solidFill>
                  <a:srgbClr val="002060"/>
                </a:solidFill>
                <a:latin typeface="+mj-lt"/>
                <a:cs typeface="Segoe UI"/>
              </a:endParaRPr>
            </a:p>
          </p:txBody>
        </p:sp>
      </p:grpSp>
      <p:grpSp>
        <p:nvGrpSpPr>
          <p:cNvPr id="40" name="Group 39" descr="This image is an icon of 1 person interacting with three people. ">
            <a:extLst>
              <a:ext uri="{FF2B5EF4-FFF2-40B4-BE49-F238E27FC236}">
                <a16:creationId xmlns:a16="http://schemas.microsoft.com/office/drawing/2014/main" id="{6163EC3B-1C70-4943-88AE-C995F6AF3D2D}"/>
              </a:ext>
            </a:extLst>
          </p:cNvPr>
          <p:cNvGrpSpPr/>
          <p:nvPr/>
        </p:nvGrpSpPr>
        <p:grpSpPr>
          <a:xfrm>
            <a:off x="5603186" y="1496054"/>
            <a:ext cx="985628" cy="840268"/>
            <a:chOff x="5459412" y="1395413"/>
            <a:chExt cx="1273175" cy="1271588"/>
          </a:xfrm>
        </p:grpSpPr>
        <p:sp>
          <p:nvSpPr>
            <p:cNvPr id="34" name="Oval 26">
              <a:extLst>
                <a:ext uri="{FF2B5EF4-FFF2-40B4-BE49-F238E27FC236}">
                  <a16:creationId xmlns:a16="http://schemas.microsoft.com/office/drawing/2014/main" id="{BAB1D2D2-1913-4FAF-8141-A2217D47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2" y="1395413"/>
              <a:ext cx="1273175" cy="127158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14E63ABA-A2BE-460E-AEC1-558B63A0D598}"/>
                </a:ext>
              </a:extLst>
            </p:cNvPr>
            <p:cNvGrpSpPr/>
            <p:nvPr/>
          </p:nvGrpSpPr>
          <p:grpSpPr>
            <a:xfrm>
              <a:off x="5781290" y="1569642"/>
              <a:ext cx="584970" cy="674403"/>
              <a:chOff x="2686050" y="2895601"/>
              <a:chExt cx="330200" cy="346075"/>
            </a:xfrm>
          </p:grpSpPr>
          <p:sp>
            <p:nvSpPr>
              <p:cNvPr id="154" name="Oval 309">
                <a:extLst>
                  <a:ext uri="{FF2B5EF4-FFF2-40B4-BE49-F238E27FC236}">
                    <a16:creationId xmlns:a16="http://schemas.microsoft.com/office/drawing/2014/main" id="{AC91C28A-AC97-43D2-BB20-485D353E8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5" name="Freeform 310">
                <a:extLst>
                  <a:ext uri="{FF2B5EF4-FFF2-40B4-BE49-F238E27FC236}">
                    <a16:creationId xmlns:a16="http://schemas.microsoft.com/office/drawing/2014/main" id="{307DC6B5-75A0-4610-B431-35147A890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6" name="Oval 311">
                <a:extLst>
                  <a:ext uri="{FF2B5EF4-FFF2-40B4-BE49-F238E27FC236}">
                    <a16:creationId xmlns:a16="http://schemas.microsoft.com/office/drawing/2014/main" id="{16EA5084-E99D-4DD5-B478-224937E08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7" name="Freeform 312">
                <a:extLst>
                  <a:ext uri="{FF2B5EF4-FFF2-40B4-BE49-F238E27FC236}">
                    <a16:creationId xmlns:a16="http://schemas.microsoft.com/office/drawing/2014/main" id="{210EC1C6-3182-40F6-869F-33B0ABF2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8" name="Oval 313">
                <a:extLst>
                  <a:ext uri="{FF2B5EF4-FFF2-40B4-BE49-F238E27FC236}">
                    <a16:creationId xmlns:a16="http://schemas.microsoft.com/office/drawing/2014/main" id="{168ACDC4-22F5-4D4B-A783-44D3655B8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59" name="Freeform 314">
                <a:extLst>
                  <a:ext uri="{FF2B5EF4-FFF2-40B4-BE49-F238E27FC236}">
                    <a16:creationId xmlns:a16="http://schemas.microsoft.com/office/drawing/2014/main" id="{9350080E-FAD1-420D-A674-785E5FD1F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0" name="Oval 315">
                <a:extLst>
                  <a:ext uri="{FF2B5EF4-FFF2-40B4-BE49-F238E27FC236}">
                    <a16:creationId xmlns:a16="http://schemas.microsoft.com/office/drawing/2014/main" id="{A3A96249-064E-4E4F-800D-F3E32321B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1" name="Freeform 316">
                <a:extLst>
                  <a:ext uri="{FF2B5EF4-FFF2-40B4-BE49-F238E27FC236}">
                    <a16:creationId xmlns:a16="http://schemas.microsoft.com/office/drawing/2014/main" id="{5B0FA9F4-74E7-4069-9E66-4CD168516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2" name="Oval 317">
                <a:extLst>
                  <a:ext uri="{FF2B5EF4-FFF2-40B4-BE49-F238E27FC236}">
                    <a16:creationId xmlns:a16="http://schemas.microsoft.com/office/drawing/2014/main" id="{8B1079C4-08A2-4532-BF93-C9FBD28FC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3" name="Freeform 318">
                <a:extLst>
                  <a:ext uri="{FF2B5EF4-FFF2-40B4-BE49-F238E27FC236}">
                    <a16:creationId xmlns:a16="http://schemas.microsoft.com/office/drawing/2014/main" id="{D2176F15-45A0-4989-901D-43FEBC8C6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4" name="Freeform 319">
                <a:extLst>
                  <a:ext uri="{FF2B5EF4-FFF2-40B4-BE49-F238E27FC236}">
                    <a16:creationId xmlns:a16="http://schemas.microsoft.com/office/drawing/2014/main" id="{E441EEB4-0ED1-401E-BCE2-44490D08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5" name="Line 320">
                <a:extLst>
                  <a:ext uri="{FF2B5EF4-FFF2-40B4-BE49-F238E27FC236}">
                    <a16:creationId xmlns:a16="http://schemas.microsoft.com/office/drawing/2014/main" id="{DE0936E5-0224-4C3C-9815-CA2E7C97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9CDDA2C-6FA4-497B-A320-3ED782990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289946" y="1115260"/>
            <a:ext cx="1968415" cy="1470250"/>
            <a:chOff x="1369795" y="2203556"/>
            <a:chExt cx="1968415" cy="1470250"/>
          </a:xfrm>
        </p:grpSpPr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246A1BD9-59BD-467C-9A84-D6A5E4382773}"/>
                </a:ext>
              </a:extLst>
            </p:cNvPr>
            <p:cNvSpPr txBox="1"/>
            <p:nvPr/>
          </p:nvSpPr>
          <p:spPr>
            <a:xfrm>
              <a:off x="1456057" y="2203556"/>
              <a:ext cx="188215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002060"/>
                  </a:solidFill>
                  <a:latin typeface="Segoe UI"/>
                  <a:cs typeface="Segoe UI"/>
                </a:rPr>
                <a:t>SERVO MOTOR</a:t>
              </a: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594EDD4C-FB3C-4D67-A0E0-448BE5307678}"/>
                </a:ext>
              </a:extLst>
            </p:cNvPr>
            <p:cNvSpPr/>
            <p:nvPr/>
          </p:nvSpPr>
          <p:spPr>
            <a:xfrm>
              <a:off x="1369795" y="2688921"/>
              <a:ext cx="1594604" cy="984885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/>
                </a:rPr>
                <a:t>Driver circuit to open and shut the front end  gateway for the pill</a:t>
              </a:r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Group 40" descr="This image is an icon of three people interacting. ">
            <a:extLst>
              <a:ext uri="{FF2B5EF4-FFF2-40B4-BE49-F238E27FC236}">
                <a16:creationId xmlns:a16="http://schemas.microsoft.com/office/drawing/2014/main" id="{7095B44D-041E-4DC3-A3B8-C4DBA721F0CF}"/>
              </a:ext>
            </a:extLst>
          </p:cNvPr>
          <p:cNvGrpSpPr/>
          <p:nvPr/>
        </p:nvGrpSpPr>
        <p:grpSpPr>
          <a:xfrm>
            <a:off x="3978156" y="2056861"/>
            <a:ext cx="1051944" cy="1066321"/>
            <a:chOff x="3438525" y="2143125"/>
            <a:chExt cx="1397000" cy="1397000"/>
          </a:xfrm>
        </p:grpSpPr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2A9CD09-E5BD-4051-A55B-752BE1EA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525" y="2143125"/>
              <a:ext cx="1397000" cy="1397000"/>
            </a:xfrm>
            <a:custGeom>
              <a:avLst/>
              <a:gdLst>
                <a:gd name="T0" fmla="*/ 276 w 336"/>
                <a:gd name="T1" fmla="*/ 276 h 336"/>
                <a:gd name="T2" fmla="*/ 60 w 336"/>
                <a:gd name="T3" fmla="*/ 276 h 336"/>
                <a:gd name="T4" fmla="*/ 60 w 336"/>
                <a:gd name="T5" fmla="*/ 60 h 336"/>
                <a:gd name="T6" fmla="*/ 276 w 336"/>
                <a:gd name="T7" fmla="*/ 60 h 336"/>
                <a:gd name="T8" fmla="*/ 276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276" y="276"/>
                  </a:moveTo>
                  <a:cubicBezTo>
                    <a:pt x="217" y="336"/>
                    <a:pt x="120" y="336"/>
                    <a:pt x="60" y="276"/>
                  </a:cubicBez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F3A32F3A-3EA3-4F6F-905C-AE7E326402EF}"/>
                </a:ext>
              </a:extLst>
            </p:cNvPr>
            <p:cNvGrpSpPr/>
            <p:nvPr/>
          </p:nvGrpSpPr>
          <p:grpSpPr>
            <a:xfrm>
              <a:off x="3810316" y="2465099"/>
              <a:ext cx="613094" cy="674403"/>
              <a:chOff x="3398838" y="2895601"/>
              <a:chExt cx="346075" cy="346075"/>
            </a:xfrm>
          </p:grpSpPr>
          <p:sp>
            <p:nvSpPr>
              <p:cNvPr id="167" name="Freeform 49">
                <a:extLst>
                  <a:ext uri="{FF2B5EF4-FFF2-40B4-BE49-F238E27FC236}">
                    <a16:creationId xmlns:a16="http://schemas.microsoft.com/office/drawing/2014/main" id="{740B54FD-C512-4C4B-90F2-B8FE96027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8" name="Freeform 50">
                <a:extLst>
                  <a:ext uri="{FF2B5EF4-FFF2-40B4-BE49-F238E27FC236}">
                    <a16:creationId xmlns:a16="http://schemas.microsoft.com/office/drawing/2014/main" id="{4FDC5A8D-821C-42CD-8C45-FB309BF76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69" name="Oval 51">
                <a:extLst>
                  <a:ext uri="{FF2B5EF4-FFF2-40B4-BE49-F238E27FC236}">
                    <a16:creationId xmlns:a16="http://schemas.microsoft.com/office/drawing/2014/main" id="{627888DD-F7D4-4895-B336-F188BAF1D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0" name="Freeform 52">
                <a:extLst>
                  <a:ext uri="{FF2B5EF4-FFF2-40B4-BE49-F238E27FC236}">
                    <a16:creationId xmlns:a16="http://schemas.microsoft.com/office/drawing/2014/main" id="{21C53BAF-A1BD-4D9D-8C56-C5A5E296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1" name="Freeform 53">
                <a:extLst>
                  <a:ext uri="{FF2B5EF4-FFF2-40B4-BE49-F238E27FC236}">
                    <a16:creationId xmlns:a16="http://schemas.microsoft.com/office/drawing/2014/main" id="{B30A39F9-E915-4B71-94A4-3436CE4B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2" name="Freeform 54">
                <a:extLst>
                  <a:ext uri="{FF2B5EF4-FFF2-40B4-BE49-F238E27FC236}">
                    <a16:creationId xmlns:a16="http://schemas.microsoft.com/office/drawing/2014/main" id="{92A91763-2FE9-4F49-81B3-F46A31888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3" name="Oval 55">
                <a:extLst>
                  <a:ext uri="{FF2B5EF4-FFF2-40B4-BE49-F238E27FC236}">
                    <a16:creationId xmlns:a16="http://schemas.microsoft.com/office/drawing/2014/main" id="{5D56157D-44A4-414B-A115-78056741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4" name="Freeform 56">
                <a:extLst>
                  <a:ext uri="{FF2B5EF4-FFF2-40B4-BE49-F238E27FC236}">
                    <a16:creationId xmlns:a16="http://schemas.microsoft.com/office/drawing/2014/main" id="{62DA9A80-F152-45F5-94C2-BB31EDA3C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5" name="Freeform 57">
                <a:extLst>
                  <a:ext uri="{FF2B5EF4-FFF2-40B4-BE49-F238E27FC236}">
                    <a16:creationId xmlns:a16="http://schemas.microsoft.com/office/drawing/2014/main" id="{003EFD2E-CF90-4AC0-BEC7-7BC685648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6" name="Freeform 58">
                <a:extLst>
                  <a:ext uri="{FF2B5EF4-FFF2-40B4-BE49-F238E27FC236}">
                    <a16:creationId xmlns:a16="http://schemas.microsoft.com/office/drawing/2014/main" id="{17D242C7-DED5-4760-974B-1C0C2CED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7" name="Oval 59">
                <a:extLst>
                  <a:ext uri="{FF2B5EF4-FFF2-40B4-BE49-F238E27FC236}">
                    <a16:creationId xmlns:a16="http://schemas.microsoft.com/office/drawing/2014/main" id="{4029ED17-8FD3-4AF2-A688-F0EE0CED0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8" name="Freeform 60">
                <a:extLst>
                  <a:ext uri="{FF2B5EF4-FFF2-40B4-BE49-F238E27FC236}">
                    <a16:creationId xmlns:a16="http://schemas.microsoft.com/office/drawing/2014/main" id="{635ABD1D-573A-4AEB-BA17-43168A9B8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9" name="Line 61">
                <a:extLst>
                  <a:ext uri="{FF2B5EF4-FFF2-40B4-BE49-F238E27FC236}">
                    <a16:creationId xmlns:a16="http://schemas.microsoft.com/office/drawing/2014/main" id="{5DC54740-A0D8-4879-95BC-57FB1ACC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0" name="Line 62">
                <a:extLst>
                  <a:ext uri="{FF2B5EF4-FFF2-40B4-BE49-F238E27FC236}">
                    <a16:creationId xmlns:a16="http://schemas.microsoft.com/office/drawing/2014/main" id="{E3DB3D49-FAF6-4080-AE40-81CF5899A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39" name="Group 38" descr="This image is an icon of three people interacting. ">
            <a:extLst>
              <a:ext uri="{FF2B5EF4-FFF2-40B4-BE49-F238E27FC236}">
                <a16:creationId xmlns:a16="http://schemas.microsoft.com/office/drawing/2014/main" id="{D7F5E6C2-3449-4D64-AEF0-8F9AE58743E4}"/>
              </a:ext>
            </a:extLst>
          </p:cNvPr>
          <p:cNvGrpSpPr/>
          <p:nvPr/>
        </p:nvGrpSpPr>
        <p:grpSpPr>
          <a:xfrm>
            <a:off x="7032505" y="1970596"/>
            <a:ext cx="1066321" cy="965680"/>
            <a:chOff x="7356475" y="2143125"/>
            <a:chExt cx="1397000" cy="1397000"/>
          </a:xfrm>
        </p:grpSpPr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AAE4382C-A236-4EFC-A5CF-301D418C6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75" y="2143125"/>
              <a:ext cx="1397000" cy="1397000"/>
            </a:xfrm>
            <a:custGeom>
              <a:avLst/>
              <a:gdLst>
                <a:gd name="T0" fmla="*/ 60 w 336"/>
                <a:gd name="T1" fmla="*/ 276 h 336"/>
                <a:gd name="T2" fmla="*/ 60 w 336"/>
                <a:gd name="T3" fmla="*/ 60 h 336"/>
                <a:gd name="T4" fmla="*/ 276 w 336"/>
                <a:gd name="T5" fmla="*/ 60 h 336"/>
                <a:gd name="T6" fmla="*/ 276 w 336"/>
                <a:gd name="T7" fmla="*/ 276 h 336"/>
                <a:gd name="T8" fmla="*/ 60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60" y="276"/>
                  </a:move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ubicBezTo>
                    <a:pt x="217" y="336"/>
                    <a:pt x="120" y="336"/>
                    <a:pt x="60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84CDD73D-3AA4-4625-B9F5-1852145FC880}"/>
                </a:ext>
              </a:extLst>
            </p:cNvPr>
            <p:cNvGrpSpPr/>
            <p:nvPr/>
          </p:nvGrpSpPr>
          <p:grpSpPr>
            <a:xfrm>
              <a:off x="7748428" y="2465099"/>
              <a:ext cx="613094" cy="674403"/>
              <a:chOff x="3398838" y="2895601"/>
              <a:chExt cx="346075" cy="346075"/>
            </a:xfrm>
          </p:grpSpPr>
          <p:sp>
            <p:nvSpPr>
              <p:cNvPr id="214" name="Freeform 49">
                <a:extLst>
                  <a:ext uri="{FF2B5EF4-FFF2-40B4-BE49-F238E27FC236}">
                    <a16:creationId xmlns:a16="http://schemas.microsoft.com/office/drawing/2014/main" id="{ABF2711F-75A7-4B4A-BF02-2652927EB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5" name="Freeform 50">
                <a:extLst>
                  <a:ext uri="{FF2B5EF4-FFF2-40B4-BE49-F238E27FC236}">
                    <a16:creationId xmlns:a16="http://schemas.microsoft.com/office/drawing/2014/main" id="{82DE05A5-FAEC-4B16-BF1A-19901B942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6" name="Oval 51">
                <a:extLst>
                  <a:ext uri="{FF2B5EF4-FFF2-40B4-BE49-F238E27FC236}">
                    <a16:creationId xmlns:a16="http://schemas.microsoft.com/office/drawing/2014/main" id="{0E0CD678-477B-451D-9104-A48469B39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7" name="Freeform 52">
                <a:extLst>
                  <a:ext uri="{FF2B5EF4-FFF2-40B4-BE49-F238E27FC236}">
                    <a16:creationId xmlns:a16="http://schemas.microsoft.com/office/drawing/2014/main" id="{26FA0A70-D241-45F0-830E-0A67FE310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8" name="Freeform 53">
                <a:extLst>
                  <a:ext uri="{FF2B5EF4-FFF2-40B4-BE49-F238E27FC236}">
                    <a16:creationId xmlns:a16="http://schemas.microsoft.com/office/drawing/2014/main" id="{A59E8B52-245F-4ACF-8281-9CF552059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9" name="Freeform 54">
                <a:extLst>
                  <a:ext uri="{FF2B5EF4-FFF2-40B4-BE49-F238E27FC236}">
                    <a16:creationId xmlns:a16="http://schemas.microsoft.com/office/drawing/2014/main" id="{899BF9CE-E77F-4F48-9450-66E3BECCB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0" name="Oval 55">
                <a:extLst>
                  <a:ext uri="{FF2B5EF4-FFF2-40B4-BE49-F238E27FC236}">
                    <a16:creationId xmlns:a16="http://schemas.microsoft.com/office/drawing/2014/main" id="{4BEF1ED3-5C78-40B2-8A93-4068B9D5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1" name="Freeform 56">
                <a:extLst>
                  <a:ext uri="{FF2B5EF4-FFF2-40B4-BE49-F238E27FC236}">
                    <a16:creationId xmlns:a16="http://schemas.microsoft.com/office/drawing/2014/main" id="{A2AAED8D-F9E0-4ECB-9AB3-CBBAFB83B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2" name="Freeform 57">
                <a:extLst>
                  <a:ext uri="{FF2B5EF4-FFF2-40B4-BE49-F238E27FC236}">
                    <a16:creationId xmlns:a16="http://schemas.microsoft.com/office/drawing/2014/main" id="{6002DB15-DE43-4C77-9619-8D419321F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3" name="Freeform 58">
                <a:extLst>
                  <a:ext uri="{FF2B5EF4-FFF2-40B4-BE49-F238E27FC236}">
                    <a16:creationId xmlns:a16="http://schemas.microsoft.com/office/drawing/2014/main" id="{96593802-B775-42A3-AF14-F045D7024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4" name="Oval 59">
                <a:extLst>
                  <a:ext uri="{FF2B5EF4-FFF2-40B4-BE49-F238E27FC236}">
                    <a16:creationId xmlns:a16="http://schemas.microsoft.com/office/drawing/2014/main" id="{E9093A9B-C057-4965-9778-D32C3435B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5" name="Freeform 60">
                <a:extLst>
                  <a:ext uri="{FF2B5EF4-FFF2-40B4-BE49-F238E27FC236}">
                    <a16:creationId xmlns:a16="http://schemas.microsoft.com/office/drawing/2014/main" id="{25E38B6F-D336-4A2F-AB1E-5483A6711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6" name="Line 61">
                <a:extLst>
                  <a:ext uri="{FF2B5EF4-FFF2-40B4-BE49-F238E27FC236}">
                    <a16:creationId xmlns:a16="http://schemas.microsoft.com/office/drawing/2014/main" id="{C97F06C5-8609-4F4A-94C8-8D52F4857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7" name="Line 62">
                <a:extLst>
                  <a:ext uri="{FF2B5EF4-FFF2-40B4-BE49-F238E27FC236}">
                    <a16:creationId xmlns:a16="http://schemas.microsoft.com/office/drawing/2014/main" id="{7A7E2673-DEC0-43F1-9033-64A7A4DA5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8F9A76E-D468-407E-9575-CEACF445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94390" y="1240273"/>
            <a:ext cx="1982794" cy="1109011"/>
            <a:chOff x="9700605" y="4157408"/>
            <a:chExt cx="2150396" cy="1109011"/>
          </a:xfrm>
        </p:grpSpPr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3380BC47-47FB-44F3-9E0B-80B83E426031}"/>
                </a:ext>
              </a:extLst>
            </p:cNvPr>
            <p:cNvSpPr txBox="1"/>
            <p:nvPr/>
          </p:nvSpPr>
          <p:spPr>
            <a:xfrm>
              <a:off x="9700605" y="4157408"/>
              <a:ext cx="2150396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Segoe UI"/>
                  <a:cs typeface="Segoe UI"/>
                </a:rPr>
                <a:t>ARDIUNO UNO(R3)</a:t>
              </a: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9DE6A47E-C4CC-416D-9C28-3273394521C8}"/>
                </a:ext>
              </a:extLst>
            </p:cNvPr>
            <p:cNvSpPr/>
            <p:nvPr/>
          </p:nvSpPr>
          <p:spPr>
            <a:xfrm>
              <a:off x="9773959" y="4527755"/>
              <a:ext cx="1729393" cy="738664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/>
                </a:rPr>
                <a:t>Real time clock module , buzzer and detecting pills</a:t>
              </a:r>
            </a:p>
          </p:txBody>
        </p: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6ADA542D-B2D5-4962-8376-A598260BA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49446" y="3352276"/>
            <a:ext cx="2179828" cy="790902"/>
            <a:chOff x="8889787" y="4258050"/>
            <a:chExt cx="2364086" cy="790902"/>
          </a:xfrm>
        </p:grpSpPr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6571B2F-0463-48D1-8CC7-EA6BC8F3FB67}"/>
                </a:ext>
              </a:extLst>
            </p:cNvPr>
            <p:cNvSpPr txBox="1"/>
            <p:nvPr/>
          </p:nvSpPr>
          <p:spPr>
            <a:xfrm>
              <a:off x="8889787" y="4258050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002060"/>
                  </a:solidFill>
                  <a:latin typeface="Segoe UI"/>
                  <a:cs typeface="Segoe UI"/>
                </a:rPr>
                <a:t>CAMERA</a:t>
              </a: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2BA0C149-973C-4722-BF48-FF9DE9B8BC55}"/>
                </a:ext>
              </a:extLst>
            </p:cNvPr>
            <p:cNvSpPr/>
            <p:nvPr/>
          </p:nvSpPr>
          <p:spPr>
            <a:xfrm>
              <a:off x="9524479" y="4556509"/>
              <a:ext cx="1729394" cy="49244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/>
                </a:rPr>
                <a:t>Biometrics – face detection </a:t>
              </a:r>
              <a:endParaRPr lang="en-US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grpSp>
        <p:nvGrpSpPr>
          <p:cNvPr id="42" name="Group 41" descr="This image is an icon of three people and a globe. ">
            <a:extLst>
              <a:ext uri="{FF2B5EF4-FFF2-40B4-BE49-F238E27FC236}">
                <a16:creationId xmlns:a16="http://schemas.microsoft.com/office/drawing/2014/main" id="{0F9B9E83-7B40-4A58-B9B6-072ADD8AF2AD}"/>
              </a:ext>
            </a:extLst>
          </p:cNvPr>
          <p:cNvGrpSpPr/>
          <p:nvPr/>
        </p:nvGrpSpPr>
        <p:grpSpPr>
          <a:xfrm>
            <a:off x="3949310" y="3544199"/>
            <a:ext cx="969664" cy="841855"/>
            <a:chOff x="2690812" y="4162425"/>
            <a:chExt cx="1271588" cy="1273175"/>
          </a:xfrm>
        </p:grpSpPr>
        <p:sp>
          <p:nvSpPr>
            <p:cNvPr id="32" name="Oval 24">
              <a:extLst>
                <a:ext uri="{FF2B5EF4-FFF2-40B4-BE49-F238E27FC236}">
                  <a16:creationId xmlns:a16="http://schemas.microsoft.com/office/drawing/2014/main" id="{16A34343-0998-42BB-80E4-28FB10F8B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812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6EF0E095-962C-4FF0-89AE-50E91D8B01BD}"/>
                </a:ext>
              </a:extLst>
            </p:cNvPr>
            <p:cNvGrpSpPr/>
            <p:nvPr/>
          </p:nvGrpSpPr>
          <p:grpSpPr>
            <a:xfrm>
              <a:off x="3011359" y="4426329"/>
              <a:ext cx="610282" cy="674403"/>
              <a:chOff x="4841875" y="2895601"/>
              <a:chExt cx="344488" cy="346075"/>
            </a:xfrm>
          </p:grpSpPr>
          <p:sp>
            <p:nvSpPr>
              <p:cNvPr id="192" name="Freeform 258">
                <a:extLst>
                  <a:ext uri="{FF2B5EF4-FFF2-40B4-BE49-F238E27FC236}">
                    <a16:creationId xmlns:a16="http://schemas.microsoft.com/office/drawing/2014/main" id="{6406E6B6-1167-46C8-948E-C5EF17DA0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3" name="Freeform 259">
                <a:extLst>
                  <a:ext uri="{FF2B5EF4-FFF2-40B4-BE49-F238E27FC236}">
                    <a16:creationId xmlns:a16="http://schemas.microsoft.com/office/drawing/2014/main" id="{72ECCE91-FE4E-4D18-8094-A898EA086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4" name="Freeform 260">
                <a:extLst>
                  <a:ext uri="{FF2B5EF4-FFF2-40B4-BE49-F238E27FC236}">
                    <a16:creationId xmlns:a16="http://schemas.microsoft.com/office/drawing/2014/main" id="{3548F75A-EA11-4316-A1F6-0CAEB678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5" name="Line 261">
                <a:extLst>
                  <a:ext uri="{FF2B5EF4-FFF2-40B4-BE49-F238E27FC236}">
                    <a16:creationId xmlns:a16="http://schemas.microsoft.com/office/drawing/2014/main" id="{5124F4E9-141F-499A-8EEC-1241D51B2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Line 262">
                <a:extLst>
                  <a:ext uri="{FF2B5EF4-FFF2-40B4-BE49-F238E27FC236}">
                    <a16:creationId xmlns:a16="http://schemas.microsoft.com/office/drawing/2014/main" id="{F8299F61-1975-4EE9-BAB2-3CE9A446F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7" name="Line 263">
                <a:extLst>
                  <a:ext uri="{FF2B5EF4-FFF2-40B4-BE49-F238E27FC236}">
                    <a16:creationId xmlns:a16="http://schemas.microsoft.com/office/drawing/2014/main" id="{21DCC590-EB7E-4BE9-BE74-8FD7163D4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8" name="Oval 264">
                <a:extLst>
                  <a:ext uri="{FF2B5EF4-FFF2-40B4-BE49-F238E27FC236}">
                    <a16:creationId xmlns:a16="http://schemas.microsoft.com/office/drawing/2014/main" id="{9DD4333D-6A4C-43A4-873D-73945A8A3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9" name="Oval 265">
                <a:extLst>
                  <a:ext uri="{FF2B5EF4-FFF2-40B4-BE49-F238E27FC236}">
                    <a16:creationId xmlns:a16="http://schemas.microsoft.com/office/drawing/2014/main" id="{4BE9E84A-E911-4211-BBA2-3D0BE5875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0" name="Oval 266">
                <a:extLst>
                  <a:ext uri="{FF2B5EF4-FFF2-40B4-BE49-F238E27FC236}">
                    <a16:creationId xmlns:a16="http://schemas.microsoft.com/office/drawing/2014/main" id="{0ECA1A96-AB7F-46A0-88B5-FCD88859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1" name="Freeform 267">
                <a:extLst>
                  <a:ext uri="{FF2B5EF4-FFF2-40B4-BE49-F238E27FC236}">
                    <a16:creationId xmlns:a16="http://schemas.microsoft.com/office/drawing/2014/main" id="{75E1735F-98B1-4E7B-BDDC-FE64527C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38" name="Group 37" descr="This image is an icon of three people and a globe. ">
            <a:extLst>
              <a:ext uri="{FF2B5EF4-FFF2-40B4-BE49-F238E27FC236}">
                <a16:creationId xmlns:a16="http://schemas.microsoft.com/office/drawing/2014/main" id="{A990E334-4A7D-4F5C-A904-F305BFAA954B}"/>
              </a:ext>
            </a:extLst>
          </p:cNvPr>
          <p:cNvGrpSpPr/>
          <p:nvPr/>
        </p:nvGrpSpPr>
        <p:grpSpPr>
          <a:xfrm>
            <a:off x="7280694" y="3434630"/>
            <a:ext cx="1012796" cy="971251"/>
            <a:chOff x="8229600" y="4162425"/>
            <a:chExt cx="1271588" cy="1273175"/>
          </a:xfrm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4699FCCF-8ACA-4F41-97A7-AD2C08AE5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63DE9C6-B298-4701-B108-E8E84885E8BC}"/>
                </a:ext>
              </a:extLst>
            </p:cNvPr>
            <p:cNvGrpSpPr/>
            <p:nvPr/>
          </p:nvGrpSpPr>
          <p:grpSpPr>
            <a:xfrm>
              <a:off x="8560253" y="4426329"/>
              <a:ext cx="610282" cy="674403"/>
              <a:chOff x="4841875" y="2895601"/>
              <a:chExt cx="344488" cy="346075"/>
            </a:xfrm>
          </p:grpSpPr>
          <p:sp>
            <p:nvSpPr>
              <p:cNvPr id="203" name="Freeform 258">
                <a:extLst>
                  <a:ext uri="{FF2B5EF4-FFF2-40B4-BE49-F238E27FC236}">
                    <a16:creationId xmlns:a16="http://schemas.microsoft.com/office/drawing/2014/main" id="{05760EEA-E70F-4460-BC2A-336F9645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4" name="Freeform 259">
                <a:extLst>
                  <a:ext uri="{FF2B5EF4-FFF2-40B4-BE49-F238E27FC236}">
                    <a16:creationId xmlns:a16="http://schemas.microsoft.com/office/drawing/2014/main" id="{7AE0CD2C-CD57-47B1-B505-80D106A80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5" name="Freeform 260">
                <a:extLst>
                  <a:ext uri="{FF2B5EF4-FFF2-40B4-BE49-F238E27FC236}">
                    <a16:creationId xmlns:a16="http://schemas.microsoft.com/office/drawing/2014/main" id="{872A3131-C536-4756-B975-DACC55DF3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6" name="Line 261">
                <a:extLst>
                  <a:ext uri="{FF2B5EF4-FFF2-40B4-BE49-F238E27FC236}">
                    <a16:creationId xmlns:a16="http://schemas.microsoft.com/office/drawing/2014/main" id="{8D6C92E4-36B6-469D-8D9D-7E821A2B6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7" name="Line 262">
                <a:extLst>
                  <a:ext uri="{FF2B5EF4-FFF2-40B4-BE49-F238E27FC236}">
                    <a16:creationId xmlns:a16="http://schemas.microsoft.com/office/drawing/2014/main" id="{B9D7D31E-100C-4875-91DB-E3AA306D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8" name="Line 263">
                <a:extLst>
                  <a:ext uri="{FF2B5EF4-FFF2-40B4-BE49-F238E27FC236}">
                    <a16:creationId xmlns:a16="http://schemas.microsoft.com/office/drawing/2014/main" id="{29CE937B-2D75-4864-AD7D-EE0DA1EBA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9" name="Oval 264">
                <a:extLst>
                  <a:ext uri="{FF2B5EF4-FFF2-40B4-BE49-F238E27FC236}">
                    <a16:creationId xmlns:a16="http://schemas.microsoft.com/office/drawing/2014/main" id="{5C237BA8-A5D9-4E6F-B526-E97148578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0" name="Oval 265">
                <a:extLst>
                  <a:ext uri="{FF2B5EF4-FFF2-40B4-BE49-F238E27FC236}">
                    <a16:creationId xmlns:a16="http://schemas.microsoft.com/office/drawing/2014/main" id="{661A5EFA-ECB7-4C9D-A8BD-1FACE7EBB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1" name="Oval 266">
                <a:extLst>
                  <a:ext uri="{FF2B5EF4-FFF2-40B4-BE49-F238E27FC236}">
                    <a16:creationId xmlns:a16="http://schemas.microsoft.com/office/drawing/2014/main" id="{6503CA85-38C3-44D1-94CA-34EA501E4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2" name="Freeform 267">
                <a:extLst>
                  <a:ext uri="{FF2B5EF4-FFF2-40B4-BE49-F238E27FC236}">
                    <a16:creationId xmlns:a16="http://schemas.microsoft.com/office/drawing/2014/main" id="{AE3AF176-184A-4597-B23C-A8ECB6945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64F8879-D01A-46C0-82F4-C2574F518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89804" y="3237257"/>
            <a:ext cx="1598853" cy="1109011"/>
            <a:chOff x="9695998" y="4157408"/>
            <a:chExt cx="1734002" cy="1109011"/>
          </a:xfrm>
        </p:grpSpPr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62109C55-9EBC-4778-80D4-D55D22307915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1600" b="1" dirty="0">
                  <a:solidFill>
                    <a:srgbClr val="002060"/>
                  </a:solidFill>
                  <a:latin typeface="Segoe UI"/>
                  <a:cs typeface="Segoe UI"/>
                </a:rPr>
                <a:t>IR SENSOR</a:t>
              </a:r>
              <a:endParaRPr lang="en-US" sz="16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779BDC05-BA31-44EF-B695-331F1F3CEBCA}"/>
                </a:ext>
              </a:extLst>
            </p:cNvPr>
            <p:cNvSpPr/>
            <p:nvPr/>
          </p:nvSpPr>
          <p:spPr>
            <a:xfrm>
              <a:off x="9695998" y="4527755"/>
              <a:ext cx="1729394" cy="738664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600" i="1" dirty="0">
                  <a:solidFill>
                    <a:srgbClr val="002060"/>
                  </a:solidFill>
                  <a:latin typeface="+mj-lt"/>
                  <a:cs typeface="Segoe UI"/>
                </a:rPr>
                <a:t>Detecting whether the pill is taken or not 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46969EBC-E8D3-4914-9A82-8E88F816E77E}"/>
              </a:ext>
            </a:extLst>
          </p:cNvPr>
          <p:cNvSpPr/>
          <p:nvPr/>
        </p:nvSpPr>
        <p:spPr>
          <a:xfrm>
            <a:off x="4599251" y="3118769"/>
            <a:ext cx="2820967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Segoe UI"/>
                <a:cs typeface="Segoe UI"/>
              </a:rPr>
              <a:t>COMPONENTS</a:t>
            </a:r>
          </a:p>
        </p:txBody>
      </p:sp>
      <p:grpSp>
        <p:nvGrpSpPr>
          <p:cNvPr id="21" name="Group 20" descr="This image is an icon of 1 person interacting with three people. ">
            <a:extLst>
              <a:ext uri="{FF2B5EF4-FFF2-40B4-BE49-F238E27FC236}">
                <a16:creationId xmlns:a16="http://schemas.microsoft.com/office/drawing/2014/main" id="{9545E9E2-E137-8292-376B-241A415B3FA0}"/>
              </a:ext>
            </a:extLst>
          </p:cNvPr>
          <p:cNvGrpSpPr/>
          <p:nvPr/>
        </p:nvGrpSpPr>
        <p:grpSpPr>
          <a:xfrm>
            <a:off x="5617561" y="4371527"/>
            <a:ext cx="971251" cy="912155"/>
            <a:chOff x="5459412" y="1395413"/>
            <a:chExt cx="1273175" cy="1271588"/>
          </a:xfrm>
        </p:grpSpPr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DD8F59FE-8B5A-0E09-6415-889ACC002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2" y="1395413"/>
              <a:ext cx="1273175" cy="127158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3E7815A-970F-24AA-58CB-F26216035E37}"/>
                </a:ext>
              </a:extLst>
            </p:cNvPr>
            <p:cNvGrpSpPr/>
            <p:nvPr/>
          </p:nvGrpSpPr>
          <p:grpSpPr>
            <a:xfrm>
              <a:off x="5781307" y="1569650"/>
              <a:ext cx="584972" cy="674404"/>
              <a:chOff x="2686050" y="2895601"/>
              <a:chExt cx="330200" cy="346075"/>
            </a:xfrm>
          </p:grpSpPr>
          <p:sp>
            <p:nvSpPr>
              <p:cNvPr id="29" name="Oval 309">
                <a:extLst>
                  <a:ext uri="{FF2B5EF4-FFF2-40B4-BE49-F238E27FC236}">
                    <a16:creationId xmlns:a16="http://schemas.microsoft.com/office/drawing/2014/main" id="{29CC39A6-E0D9-B51A-8F25-BC14B94D7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" name="Freeform 310">
                <a:extLst>
                  <a:ext uri="{FF2B5EF4-FFF2-40B4-BE49-F238E27FC236}">
                    <a16:creationId xmlns:a16="http://schemas.microsoft.com/office/drawing/2014/main" id="{C429A11F-D51B-84C5-9826-06C797488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" name="Oval 311">
                <a:extLst>
                  <a:ext uri="{FF2B5EF4-FFF2-40B4-BE49-F238E27FC236}">
                    <a16:creationId xmlns:a16="http://schemas.microsoft.com/office/drawing/2014/main" id="{72045F43-50FB-0B16-CF49-30391BF3F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" name="Freeform 312">
                <a:extLst>
                  <a:ext uri="{FF2B5EF4-FFF2-40B4-BE49-F238E27FC236}">
                    <a16:creationId xmlns:a16="http://schemas.microsoft.com/office/drawing/2014/main" id="{2FC40B52-76DF-620E-3348-B6BB6D4A62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Oval 313">
                <a:extLst>
                  <a:ext uri="{FF2B5EF4-FFF2-40B4-BE49-F238E27FC236}">
                    <a16:creationId xmlns:a16="http://schemas.microsoft.com/office/drawing/2014/main" id="{69BF7FBF-6893-0099-3306-75CDFE75D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314">
                <a:extLst>
                  <a:ext uri="{FF2B5EF4-FFF2-40B4-BE49-F238E27FC236}">
                    <a16:creationId xmlns:a16="http://schemas.microsoft.com/office/drawing/2014/main" id="{1157CDE8-04DF-61D2-A54F-0E6DB083B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Oval 315">
                <a:extLst>
                  <a:ext uri="{FF2B5EF4-FFF2-40B4-BE49-F238E27FC236}">
                    <a16:creationId xmlns:a16="http://schemas.microsoft.com/office/drawing/2014/main" id="{C87BB4C6-92FE-AC71-1CBC-49CC260A1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316">
                <a:extLst>
                  <a:ext uri="{FF2B5EF4-FFF2-40B4-BE49-F238E27FC236}">
                    <a16:creationId xmlns:a16="http://schemas.microsoft.com/office/drawing/2014/main" id="{C0114C6D-1A6D-4CAF-266E-8E93CF52F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Oval 317">
                <a:extLst>
                  <a:ext uri="{FF2B5EF4-FFF2-40B4-BE49-F238E27FC236}">
                    <a16:creationId xmlns:a16="http://schemas.microsoft.com/office/drawing/2014/main" id="{BA35C0E6-3C13-7492-2182-62EDCFEAF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318">
                <a:extLst>
                  <a:ext uri="{FF2B5EF4-FFF2-40B4-BE49-F238E27FC236}">
                    <a16:creationId xmlns:a16="http://schemas.microsoft.com/office/drawing/2014/main" id="{CBE0D9A5-002F-C536-433C-4FEAF3EA2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319">
                <a:extLst>
                  <a:ext uri="{FF2B5EF4-FFF2-40B4-BE49-F238E27FC236}">
                    <a16:creationId xmlns:a16="http://schemas.microsoft.com/office/drawing/2014/main" id="{86085E51-ECD1-9381-2899-69BC3E737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3" name="Line 320">
                <a:extLst>
                  <a:ext uri="{FF2B5EF4-FFF2-40B4-BE49-F238E27FC236}">
                    <a16:creationId xmlns:a16="http://schemas.microsoft.com/office/drawing/2014/main" id="{F2F85F05-1E70-159D-D5C3-0748FBE8F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96976B7A-E788-0C57-F209-4867811CB487}"/>
              </a:ext>
            </a:extLst>
          </p:cNvPr>
          <p:cNvSpPr txBox="1"/>
          <p:nvPr/>
        </p:nvSpPr>
        <p:spPr>
          <a:xfrm>
            <a:off x="5170098" y="5385759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Segoe UI"/>
                <a:cs typeface="Segoe UI"/>
              </a:rPr>
              <a:t>PIEZOELECTRIC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4D1729-6482-93DA-5FD6-D05EA16C8FEA}"/>
              </a:ext>
            </a:extLst>
          </p:cNvPr>
          <p:cNvSpPr txBox="1"/>
          <p:nvPr/>
        </p:nvSpPr>
        <p:spPr>
          <a:xfrm>
            <a:off x="5055080" y="5788324"/>
            <a:ext cx="2743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solidFill>
                  <a:srgbClr val="002060"/>
                </a:solidFill>
                <a:latin typeface="Calibri Light"/>
                <a:cs typeface="Calibri Light"/>
              </a:rPr>
              <a:t>Generate high current for charging </a:t>
            </a:r>
          </a:p>
        </p:txBody>
      </p:sp>
    </p:spTree>
    <p:extLst>
      <p:ext uri="{BB962C8B-B14F-4D97-AF65-F5344CB8AC3E}">
        <p14:creationId xmlns:p14="http://schemas.microsoft.com/office/powerpoint/2010/main" val="186973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784E464-B64A-4614-9350-2C88DBD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resources slide 5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D08E99A-0644-4757-9F3A-BBA1A4F3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751014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A21B85DB-181D-46E7-A9DF-F92B1DF0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9218" y="2798158"/>
            <a:ext cx="443592" cy="23229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4EA7ED5-6E34-4D47-91B6-F78F5F8B4C6E}"/>
              </a:ext>
            </a:extLst>
          </p:cNvPr>
          <p:cNvSpPr txBox="1"/>
          <p:nvPr/>
        </p:nvSpPr>
        <p:spPr>
          <a:xfrm>
            <a:off x="7213127" y="338312"/>
            <a:ext cx="3603287" cy="5129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400" b="1" dirty="0">
                <a:solidFill>
                  <a:srgbClr val="002060"/>
                </a:solidFill>
                <a:latin typeface="Segoe UI"/>
                <a:cs typeface="Segoe UI"/>
              </a:rPr>
              <a:t>Flowchart</a:t>
            </a:r>
            <a:endParaRPr lang="en-US" sz="4400" b="1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 descr="A diagram of a computer&#10;&#10;Description automatically generated">
            <a:extLst>
              <a:ext uri="{FF2B5EF4-FFF2-40B4-BE49-F238E27FC236}">
                <a16:creationId xmlns:a16="http://schemas.microsoft.com/office/drawing/2014/main" id="{06CAF57A-3BE0-7073-AF0E-64295C92C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7" y="441386"/>
            <a:ext cx="6410503" cy="5687681"/>
          </a:xfrm>
          <a:prstGeom prst="rect">
            <a:avLst/>
          </a:prstGeom>
        </p:spPr>
      </p:pic>
      <p:pic>
        <p:nvPicPr>
          <p:cNvPr id="3" name="Picture 2" descr="A diagram of different devices&#10;&#10;Description automatically generated">
            <a:extLst>
              <a:ext uri="{FF2B5EF4-FFF2-40B4-BE49-F238E27FC236}">
                <a16:creationId xmlns:a16="http://schemas.microsoft.com/office/drawing/2014/main" id="{8F381041-9247-6D9E-45AF-27ACB27D4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146" y="1271768"/>
            <a:ext cx="4827556" cy="427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2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060B-0BE2-CA23-9FAF-9FB86346A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143" y="642257"/>
            <a:ext cx="9144000" cy="653142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D9D28-FC73-D43F-FE55-A73ED2FC7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143" y="1828801"/>
            <a:ext cx="9144000" cy="4060371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The proposed device will keep track of regular medical taking activities of the elderly persons.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Also reduces manual supervision and manual effort.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i="0" dirty="0">
                <a:latin typeface="Cambria" panose="02040503050406030204" pitchFamily="18" charset="0"/>
                <a:ea typeface="Cambria" panose="02040503050406030204" pitchFamily="18" charset="0"/>
                <a:cs typeface="+mj-lt"/>
              </a:rPr>
              <a:t>Cost effective and beneficial for the elderly part of society and also aids the disabled citizens. 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79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28E9B4-6BA1-6417-D099-0F4F4B4388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" b="29085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7EB08-30AA-4761-4CF2-5297350C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5648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900F64-9193-44F8-BD63-E681103777C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334</Words>
  <Application>Microsoft Office PowerPoint</Application>
  <PresentationFormat>Widescreen</PresentationFormat>
  <Paragraphs>70</Paragraphs>
  <Slides>8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Courier New</vt:lpstr>
      <vt:lpstr>Segoe UI</vt:lpstr>
      <vt:lpstr>Office Theme</vt:lpstr>
      <vt:lpstr>Human resources slide 1</vt:lpstr>
      <vt:lpstr>Human resources slide 2</vt:lpstr>
      <vt:lpstr>Human resources slide 9</vt:lpstr>
      <vt:lpstr>Human resources slide 3</vt:lpstr>
      <vt:lpstr>Human resources slide 4</vt:lpstr>
      <vt:lpstr>Human resources slide 5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Angelin Jenita Arul</dc:creator>
  <cp:lastModifiedBy>Angelin Jenita Arul</cp:lastModifiedBy>
  <cp:revision>424</cp:revision>
  <dcterms:created xsi:type="dcterms:W3CDTF">2023-12-18T16:18:05Z</dcterms:created>
  <dcterms:modified xsi:type="dcterms:W3CDTF">2024-10-02T18:15:04Z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